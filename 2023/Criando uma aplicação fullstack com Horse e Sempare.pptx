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0E_A8233FF6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9" r:id="rId2"/>
  </p:sldMasterIdLst>
  <p:notesMasterIdLst>
    <p:notesMasterId r:id="rId14"/>
  </p:notesMasterIdLst>
  <p:sldIdLst>
    <p:sldId id="320" r:id="rId3"/>
    <p:sldId id="270" r:id="rId4"/>
    <p:sldId id="323" r:id="rId5"/>
    <p:sldId id="256" r:id="rId6"/>
    <p:sldId id="318" r:id="rId7"/>
    <p:sldId id="324" r:id="rId8"/>
    <p:sldId id="326" r:id="rId9"/>
    <p:sldId id="325" r:id="rId10"/>
    <p:sldId id="327" r:id="rId11"/>
    <p:sldId id="328" r:id="rId12"/>
    <p:sldId id="316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E0ECC16-C403-7467-3D7C-71A794D65D7D}" name="Alef Souza" initials="AS" userId="S::asouza@ttrends.com.br::69a8dfc6-5f22-4bbc-8adf-69e41ea1f42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6" y="2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8/10/relationships/authors" Target="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omments/modernComment_10E_A8233FF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E0473DA-6B63-4CB4-B3ED-2E2C95ABEBA4}" authorId="{4E0ECC16-C403-7467-3D7C-71A794D65D7D}" created="2023-09-18T20:17:58.8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20882422" sldId="270"/>
      <ac:grpSpMk id="4" creationId="{007B7AFC-ED4A-C3B3-0364-8074FBA94898}"/>
    </ac:deMkLst>
    <p188:txBody>
      <a:bodyPr/>
      <a:lstStyle/>
      <a:p>
        <a:r>
          <a:rPr lang="pt-BR"/>
          <a:t>Insira o link de suas redes aqui.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D64CA-AB64-464E-B818-631BFBB49563}" type="datetimeFigureOut">
              <a:rPr lang="pt-BR" smtClean="0"/>
              <a:t>08/11/2023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97B15-8D78-4063-8374-821F7C278F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9204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1371BC-3875-40D4-B853-A9D2F06EADF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948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1371BC-3875-40D4-B853-A9D2F06EADF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9488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1371BC-3875-40D4-B853-A9D2F06EADF7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488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1371BC-3875-40D4-B853-A9D2F06EADF7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9488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1371BC-3875-40D4-B853-A9D2F06EADF7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488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1371BC-3875-40D4-B853-A9D2F06EADF7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488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1371BC-3875-40D4-B853-A9D2F06EADF7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024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EBB02-85CC-D134-64D5-0EEDC873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04975"/>
            <a:ext cx="9144000" cy="1804988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B7BF2C-56F1-D423-BF92-17BAC789E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33826"/>
            <a:ext cx="9144000" cy="4460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7889D2-0E88-508B-18D2-0213AB2CEF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0" y="4787900"/>
            <a:ext cx="1371600" cy="365125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59CAA6-FEF1-5821-864B-2CCB02382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67300" y="4787900"/>
            <a:ext cx="2057400" cy="365125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BB4DAC-BA7B-2A0C-AB7B-1C0F6D7C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4787900"/>
            <a:ext cx="1371600" cy="365125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9386E2FC-EA92-4381-B530-60868151A94D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A4DFDC96-A3D0-5832-1186-E5CB7C7888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97455" y="1248832"/>
            <a:ext cx="1358637" cy="135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25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Slide de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EBB02-85CC-D134-64D5-0EEDC873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6850"/>
            <a:ext cx="8312458" cy="2043113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B7BF2C-56F1-D423-BF92-17BAC789E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4350544"/>
            <a:ext cx="3411984" cy="800099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7889D2-0E88-508B-18D2-0213AB2CE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B1CC5720-73C0-40F0-BCD8-607D2ED0760F}" type="datetimeFigureOut">
              <a:rPr lang="pt-BR" smtClean="0"/>
              <a:pPr/>
              <a:t>08/11/2023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59CAA6-FEF1-5821-864B-2CCB02382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BB4DAC-BA7B-2A0C-AB7B-1C0F6D7C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9386E2FC-EA92-4381-B530-60868151A94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8D1D7B7F-7D07-B199-F128-CF11E3C0629E}"/>
              </a:ext>
            </a:extLst>
          </p:cNvPr>
          <p:cNvSpPr txBox="1">
            <a:spLocks/>
          </p:cNvSpPr>
          <p:nvPr userDrawn="1"/>
        </p:nvSpPr>
        <p:spPr>
          <a:xfrm>
            <a:off x="1523999" y="3985419"/>
            <a:ext cx="5438775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b="1" i="1" dirty="0">
                <a:solidFill>
                  <a:srgbClr val="F7505A"/>
                </a:solidFill>
              </a:rPr>
              <a:t>{ </a:t>
            </a:r>
            <a:r>
              <a:rPr lang="pt-BR" sz="1600" b="1" i="1" dirty="0">
                <a:solidFill>
                  <a:schemeClr val="bg1"/>
                </a:solidFill>
              </a:rPr>
              <a:t>Palestrante</a:t>
            </a: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B3B6D641-F39F-FC09-AD5A-A19A9DF970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2551" y="1407692"/>
            <a:ext cx="1358637" cy="1358637"/>
          </a:xfrm>
          <a:prstGeom prst="rect">
            <a:avLst/>
          </a:prstGeom>
        </p:spPr>
      </p:pic>
      <p:pic>
        <p:nvPicPr>
          <p:cNvPr id="13" name="Imagem 12" descr="Uma imagem contendo quarto, cena, placa, em pé&#10;&#10;Descrição gerada automaticamente">
            <a:extLst>
              <a:ext uri="{FF2B5EF4-FFF2-40B4-BE49-F238E27FC236}">
                <a16:creationId xmlns:a16="http://schemas.microsoft.com/office/drawing/2014/main" id="{FA2A4D3D-DE65-50C9-85E1-F15D7CB3759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1188" y="4868841"/>
            <a:ext cx="900362" cy="90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334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EBB02-85CC-D134-64D5-0EEDC873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 Nova" panose="020B05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B7BF2C-56F1-D423-BF92-17BAC789E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7889D2-0E88-508B-18D2-0213AB2CEF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0" y="5921344"/>
            <a:ext cx="1371600" cy="365125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B1CC5720-73C0-40F0-BCD8-607D2ED0760F}" type="datetimeFigureOut">
              <a:rPr lang="pt-BR" smtClean="0"/>
              <a:pPr/>
              <a:t>08/11/2023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59CAA6-FEF1-5821-864B-2CCB02382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67300" y="5921344"/>
            <a:ext cx="2057400" cy="365125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BB4DAC-BA7B-2A0C-AB7B-1C0F6D7C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5921344"/>
            <a:ext cx="1371600" cy="365125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9386E2FC-EA92-4381-B530-60868151A94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32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EBB02-85CC-D134-64D5-0EEDC873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B7BF2C-56F1-D423-BF92-17BAC789E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76D25C2-6998-E029-1EC0-6834E430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0" y="5921344"/>
            <a:ext cx="1371600" cy="365125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B1CC5720-73C0-40F0-BCD8-607D2ED0760F}" type="datetimeFigureOut">
              <a:rPr lang="pt-BR" smtClean="0"/>
              <a:pPr/>
              <a:t>08/11/2023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7E43CCFC-D2D3-DB8C-1142-21CC784D4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67300" y="5921344"/>
            <a:ext cx="2057400" cy="365125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C0501D3E-FABA-EBB1-F106-226957F4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5921344"/>
            <a:ext cx="1371600" cy="365125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9386E2FC-EA92-4381-B530-60868151A94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5134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12148C-5FD5-8D04-DF52-0B9016981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CD1A90-FFC4-A131-9FF8-A4EF81F59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EA5A00-5C95-798F-AC1C-500770EB7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720-73C0-40F0-BCD8-607D2ED0760F}" type="datetimeFigureOut">
              <a:rPr lang="pt-BR" smtClean="0"/>
              <a:t>08/11/2023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1F1AD8-F31A-8ED6-1DCB-1F619FB2F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99FFCC-FDA4-E12C-C043-9C25EC13B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E2FC-EA92-4381-B530-60868151A9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8587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26DC9-42F1-0E1A-4BDC-EA07204E0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165626"/>
            <a:ext cx="10515600" cy="736199"/>
          </a:xfrm>
        </p:spPr>
        <p:txBody>
          <a:bodyPr anchor="b">
            <a:normAutofit/>
          </a:bodyPr>
          <a:lstStyle>
            <a:lvl1pPr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09F03A-4A6F-047E-C721-8245DEC3D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266164"/>
            <a:ext cx="4974146" cy="269001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E03B9B-8428-071D-6BA2-54EF8651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5509811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1CC5720-73C0-40F0-BCD8-607D2ED0760F}" type="datetimeFigureOut">
              <a:rPr lang="pt-BR" smtClean="0"/>
              <a:pPr/>
              <a:t>08/11/2023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AA6B1D-2B0F-8DBD-EA88-58A0EB4A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509811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B408A9-A228-4049-B40C-1D3A6909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509811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386E2FC-EA92-4381-B530-60868151A94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90D72194-6894-74DA-5288-00629C01708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373304" y="2266164"/>
            <a:ext cx="4974146" cy="269001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978930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26DC9-42F1-0E1A-4BDC-EA07204E0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165626"/>
            <a:ext cx="10515600" cy="736199"/>
          </a:xfrm>
        </p:spPr>
        <p:txBody>
          <a:bodyPr anchor="b">
            <a:normAutofit/>
          </a:bodyPr>
          <a:lstStyle>
            <a:lvl1pPr>
              <a:defRPr sz="36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09F03A-4A6F-047E-C721-8245DEC3D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266164"/>
            <a:ext cx="4974146" cy="269001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E03B9B-8428-071D-6BA2-54EF8651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720-73C0-40F0-BCD8-607D2ED0760F}" type="datetimeFigureOut">
              <a:rPr lang="pt-BR" smtClean="0"/>
              <a:t>08/11/2023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AA6B1D-2B0F-8DBD-EA88-58A0EB4A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B408A9-A228-4049-B40C-1D3A6909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E2FC-EA92-4381-B530-60868151A94D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90D72194-6894-74DA-5288-00629C01708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373304" y="2266164"/>
            <a:ext cx="4974146" cy="269001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74809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386D2-0557-6955-D54D-27727C593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403351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CCAC28-6D2B-A20E-0EA9-E2D18DFBB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350837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59F239-3A28-CB59-372F-906151689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19145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6AF1EA-415C-FB9E-8C2C-D76A3B64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720-73C0-40F0-BCD8-607D2ED0760F}" type="datetimeFigureOut">
              <a:rPr lang="pt-BR" smtClean="0"/>
              <a:t>08/11/2023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37D1C-2640-BC58-F805-EA1314768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ABFC71-996A-A4D6-72F3-7FBCC674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E2FC-EA92-4381-B530-60868151A9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9821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9AA37-8FE9-D5BF-078A-AFA56A6E1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FF299F-9EF5-8FF6-A35B-AB3F74BB1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D12B2D-CC41-B81E-6FC6-14809B8A5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1C9C-4DC4-49BC-A199-FB0F36C02187}" type="datetimeFigureOut">
              <a:rPr lang="pt-BR" smtClean="0"/>
              <a:t>08/11/2023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DAC546-08C9-E110-5719-DCBAB0F25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288663-EE59-9682-1686-12D3D9B22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B7AB-9363-4428-A55C-B01624E4E2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1163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4393F-4054-BA31-91A0-4C9EC808C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29D318-718B-CC41-8FD8-96A3AD4BB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D964E8-257E-9B11-AA66-AB7098DE0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1C9C-4DC4-49BC-A199-FB0F36C02187}" type="datetimeFigureOut">
              <a:rPr lang="pt-BR" smtClean="0"/>
              <a:t>08/11/2023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F56051-0B8D-D881-EC91-4A50BB3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E7CF81-4B11-0DC6-BB09-3094B6A73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B7AB-9363-4428-A55C-B01624E4E2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803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A1CE1-C45B-CF82-57AD-9ABD92BA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8692B2-21C5-D675-F016-EF792E4D4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E334D9-1DB4-5FEF-9D61-C7A01EB5B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1C9C-4DC4-49BC-A199-FB0F36C02187}" type="datetimeFigureOut">
              <a:rPr lang="pt-BR" smtClean="0"/>
              <a:t>08/11/2023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2275AB-6592-68FC-30EC-6A349E496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A96554-D1CD-CE60-8B3A-B8433D453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B7AB-9363-4428-A55C-B01624E4E2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7425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E6797-089F-9391-F619-FD90D1F66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15313F-4390-029A-DB49-740E4197BA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7908D5-ABF4-3ED7-DF6C-13EBA43FF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F7CE0-3EBA-3B10-E958-E4E24FD0F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1C9C-4DC4-49BC-A199-FB0F36C02187}" type="datetimeFigureOut">
              <a:rPr lang="pt-BR" smtClean="0"/>
              <a:t>08/11/2023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91492D-E667-64E1-E2A5-7BD18CAD8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E3B6E2-4F28-8B66-CAE2-9A413BCFB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B7AB-9363-4428-A55C-B01624E4E2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744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78578-A13E-6AC7-177E-9B9866296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855FE8-E0E0-8B17-1CDC-E87D65270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B40E16-7913-E0A1-0D1E-A6EAD4DF3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5137455-55F0-79B7-17F5-3378CDF983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9C24DE-34C5-872C-24FF-281892EBE5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3E1865B-1738-EF68-CB33-43D94766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1C9C-4DC4-49BC-A199-FB0F36C02187}" type="datetimeFigureOut">
              <a:rPr lang="pt-BR" smtClean="0"/>
              <a:t>08/11/2023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E635CB0-7FF5-37FF-B2EA-455E208ED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EB1DD19-CA48-E444-4E5A-C54F4248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B7AB-9363-4428-A55C-B01624E4E2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8037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30BE9-F029-13DE-1600-EFE70BA73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A2C7F0F-64DE-C0F1-51EA-C8588434B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1C9C-4DC4-49BC-A199-FB0F36C02187}" type="datetimeFigureOut">
              <a:rPr lang="pt-BR" smtClean="0"/>
              <a:t>08/11/2023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A92E945-2CE1-EAA6-4D9E-1AA8D109F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37B6884-A969-CEC9-111B-A3AB6E984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B7AB-9363-4428-A55C-B01624E4E2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1632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C8FC33-1C81-AD84-2BA1-6003CBDDA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1C9C-4DC4-49BC-A199-FB0F36C02187}" type="datetimeFigureOut">
              <a:rPr lang="pt-BR" smtClean="0"/>
              <a:t>08/11/2023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E505FD3-FFF4-0878-A6CD-51878F18B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1BC51FF-3A4D-C99F-45ED-0C96A2E9E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B7AB-9363-4428-A55C-B01624E4E2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1059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53BD1B-CADC-083E-6373-CC1A87479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3C8330-81E7-382D-75FA-16153FB44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D5A4952-BD0F-05EC-F793-5252C2FA9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371A09-EEF4-60BA-2817-C8FD745D4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1C9C-4DC4-49BC-A199-FB0F36C02187}" type="datetimeFigureOut">
              <a:rPr lang="pt-BR" smtClean="0"/>
              <a:t>08/11/2023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88DA15-E401-99F9-64DD-6DD044F29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84A83B-6318-D272-1EAA-E5B112DB6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B7AB-9363-4428-A55C-B01624E4E2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6430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0F175-85B2-B11B-A9C5-7CDC5B451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B1BEBA-E900-6F7C-DCFC-D11B6E579D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C6C0C5-8633-C4B4-1128-AE2D69AC7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F99934-7443-4EC8-CCC7-81589BCD2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1C9C-4DC4-49BC-A199-FB0F36C02187}" type="datetimeFigureOut">
              <a:rPr lang="pt-BR" smtClean="0"/>
              <a:t>08/11/2023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060B83E-E984-8FD5-2405-3E12DF70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2A923C-92D0-9687-354F-22AE8DF02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B7AB-9363-4428-A55C-B01624E4E2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44719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5847D-C1B7-717F-777F-EA984DD47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E27CF2-2224-E188-8EA0-C314EC4CB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C2CFB3-F8DE-4906-454D-D07D8EE6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1C9C-4DC4-49BC-A199-FB0F36C02187}" type="datetimeFigureOut">
              <a:rPr lang="pt-BR" smtClean="0"/>
              <a:t>08/11/2023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FCF0D2-C0B0-0E1F-B459-3A6582ABA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8B39C9-3DCB-2CC4-B138-24376AFF2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B7AB-9363-4428-A55C-B01624E4E2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4422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175960E-3A9B-EC55-B578-25B97EC22B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560242-2C66-8408-03F8-813F8DC71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44CBF4-90F5-5576-CE91-4A05A4F74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1C9C-4DC4-49BC-A199-FB0F36C02187}" type="datetimeFigureOut">
              <a:rPr lang="pt-BR" smtClean="0"/>
              <a:t>08/11/2023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952023-BF9E-124E-12C1-6D6953B0F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248A42-CC82-A806-C1EE-73D1CB459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B7AB-9363-4428-A55C-B01624E4E2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29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E94F9CD-AAE7-82FC-9048-A0AE959CC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891DCA-B952-516B-B4D2-CDDC96C1B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2908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F5B4F0-90E4-E25F-91C5-99367C8E5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486886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B1CC5720-73C0-40F0-BCD8-607D2ED0760F}" type="datetimeFigureOut">
              <a:rPr lang="pt-BR" smtClean="0"/>
              <a:pPr/>
              <a:t>08/11/2023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7263D1-9A90-355E-4369-44EEBBD83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48688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3B777B-2DD4-C305-23ED-6DC01FEB4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486886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9386E2FC-EA92-4381-B530-60868151A94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7190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 Nova" panose="020B05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8DF7413-4F3E-3DC1-5276-B2CF8CC7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9D6D51-D97F-4B5B-FB0F-FF123C43D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14E084-843A-2D8E-94A5-CC42BD1C3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61C9C-4DC4-49BC-A199-FB0F36C02187}" type="datetimeFigureOut">
              <a:rPr lang="pt-BR" smtClean="0"/>
              <a:t>08/11/2023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B37D93-D832-A7C0-B172-21B957058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8F716F-7DE0-F6D8-D96D-FA88D2C5E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7B7AB-9363-4428-A55C-B01624E4E2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5085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hyperlink" Target="https://twitter.com/embarcaderobr" TargetMode="External"/><Relationship Id="rId3" Type="http://schemas.openxmlformats.org/officeDocument/2006/relationships/image" Target="../media/image7.png"/><Relationship Id="rId7" Type="http://schemas.openxmlformats.org/officeDocument/2006/relationships/hyperlink" Target="https://www.instagram.com/embarcaderobrasil/" TargetMode="External"/><Relationship Id="rId12" Type="http://schemas.openxmlformats.org/officeDocument/2006/relationships/image" Target="../media/image13.svg"/><Relationship Id="rId2" Type="http://schemas.microsoft.com/office/2018/10/relationships/comments" Target="../comments/modernComment_10E_A8233FF6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sv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5" Type="http://schemas.openxmlformats.org/officeDocument/2006/relationships/image" Target="../media/image15.svg"/><Relationship Id="rId10" Type="http://schemas.openxmlformats.org/officeDocument/2006/relationships/hyperlink" Target="https://www.linkedin.com/company/embarcaderobr/" TargetMode="External"/><Relationship Id="rId4" Type="http://schemas.openxmlformats.org/officeDocument/2006/relationships/hyperlink" Target="https://www.facebook.com/EmbarcaderoBR/?locale=pt_BR" TargetMode="External"/><Relationship Id="rId9" Type="http://schemas.openxmlformats.org/officeDocument/2006/relationships/image" Target="../media/image11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sempare/sempare-delphi-template-engine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D837F2A-0CA5-4754-9DBF-1D0ABD9842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i="0" u="none" strike="noStrike" dirty="0">
                <a:solidFill>
                  <a:srgbClr val="C6BEBE"/>
                </a:solidFill>
                <a:effectLst/>
                <a:latin typeface="Archivo"/>
              </a:rPr>
              <a:t>Criando uma aplicação fullstack com Horse e Sempare</a:t>
            </a:r>
            <a:endParaRPr lang="pt-BR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12E35B63-B986-91BC-76ED-03FB1DBC2A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Vinícius de Abreu Batista</a:t>
            </a:r>
          </a:p>
        </p:txBody>
      </p:sp>
    </p:spTree>
    <p:extLst>
      <p:ext uri="{BB962C8B-B14F-4D97-AF65-F5344CB8AC3E}">
        <p14:creationId xmlns:p14="http://schemas.microsoft.com/office/powerpoint/2010/main" val="652330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3">
            <a:extLst>
              <a:ext uri="{FF2B5EF4-FFF2-40B4-BE49-F238E27FC236}">
                <a16:creationId xmlns:a16="http://schemas.microsoft.com/office/drawing/2014/main" id="{9E8DA76E-1043-67AE-4DED-AB2090A31175}"/>
              </a:ext>
            </a:extLst>
          </p:cNvPr>
          <p:cNvSpPr txBox="1">
            <a:spLocks/>
          </p:cNvSpPr>
          <p:nvPr/>
        </p:nvSpPr>
        <p:spPr>
          <a:xfrm>
            <a:off x="6345708" y="2774579"/>
            <a:ext cx="4150077" cy="22838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 Nova" panose="020B0504020202020204" pitchFamily="34" charset="0"/>
                <a:ea typeface="+mj-ea"/>
                <a:cs typeface="+mj-cs"/>
              </a:defRPr>
            </a:lvl1pPr>
          </a:lstStyle>
          <a:p>
            <a:r>
              <a:rPr lang="pt-BR" sz="4800" dirty="0">
                <a:latin typeface="Archivo SemiBold" pitchFamily="2" charset="0"/>
                <a:cs typeface="Archivo SemiBold" pitchFamily="2" charset="0"/>
              </a:rPr>
              <a:t>Embarcadero Conference </a:t>
            </a:r>
            <a:r>
              <a:rPr lang="pt-BR" sz="4800" dirty="0">
                <a:latin typeface="Archivo Thin" pitchFamily="2" charset="0"/>
                <a:cs typeface="Archivo Thin" pitchFamily="2" charset="0"/>
              </a:rPr>
              <a:t>2023</a:t>
            </a:r>
          </a:p>
        </p:txBody>
      </p:sp>
      <p:pic>
        <p:nvPicPr>
          <p:cNvPr id="9" name="Imagem 8" descr="Uma imagem contendo quarto, cena, placa, em pé&#10;&#10;Descrição gerada automaticamente">
            <a:extLst>
              <a:ext uri="{FF2B5EF4-FFF2-40B4-BE49-F238E27FC236}">
                <a16:creationId xmlns:a16="http://schemas.microsoft.com/office/drawing/2014/main" id="{651C2ABF-CBB7-A883-1427-989582EB86E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21572" y="1188892"/>
            <a:ext cx="1390100" cy="13901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373CD14E-F418-7E48-2A31-0A8D9A633FAE}"/>
              </a:ext>
            </a:extLst>
          </p:cNvPr>
          <p:cNvSpPr txBox="1"/>
          <p:nvPr/>
        </p:nvSpPr>
        <p:spPr>
          <a:xfrm>
            <a:off x="1755719" y="4888087"/>
            <a:ext cx="4086218" cy="6994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u="sng" dirty="0">
                <a:latin typeface="Archivo" pitchFamily="2" charset="0"/>
                <a:cs typeface="Archivo" pitchFamily="2" charset="0"/>
              </a:rPr>
              <a:t>abreuvinicius87@gmail.com</a:t>
            </a:r>
            <a:endParaRPr lang="pt-BR" sz="1400" b="0" i="0" u="sng" dirty="0">
              <a:effectLst/>
              <a:latin typeface="Archivo" pitchFamily="2" charset="0"/>
              <a:cs typeface="Archivo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1400" b="0" i="0" dirty="0">
                <a:effectLst/>
                <a:latin typeface="Archivo" pitchFamily="2" charset="0"/>
                <a:cs typeface="Archivo" pitchFamily="2" charset="0"/>
              </a:rPr>
              <a:t>(18) 99717-8667</a:t>
            </a:r>
            <a:endParaRPr lang="pt-BR" sz="1400" dirty="0">
              <a:latin typeface="Archivo" pitchFamily="2" charset="0"/>
              <a:cs typeface="Archivo" pitchFamily="2" charset="0"/>
            </a:endParaRPr>
          </a:p>
        </p:txBody>
      </p:sp>
      <p:pic>
        <p:nvPicPr>
          <p:cNvPr id="12" name="Gráfico 11">
            <a:hlinkClick r:id="rId4"/>
            <a:extLst>
              <a:ext uri="{FF2B5EF4-FFF2-40B4-BE49-F238E27FC236}">
                <a16:creationId xmlns:a16="http://schemas.microsoft.com/office/drawing/2014/main" id="{65817711-C07F-842E-1812-1D4C3006AB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58711" y="4427010"/>
            <a:ext cx="102160" cy="185746"/>
          </a:xfrm>
          <a:prstGeom prst="rect">
            <a:avLst/>
          </a:prstGeom>
        </p:spPr>
      </p:pic>
      <p:pic>
        <p:nvPicPr>
          <p:cNvPr id="14" name="Gráfico 13">
            <a:hlinkClick r:id="rId7"/>
            <a:extLst>
              <a:ext uri="{FF2B5EF4-FFF2-40B4-BE49-F238E27FC236}">
                <a16:creationId xmlns:a16="http://schemas.microsoft.com/office/drawing/2014/main" id="{11134527-9B61-3DBA-BC4E-FBD84ED8E2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00847" y="4428910"/>
            <a:ext cx="195217" cy="195217"/>
          </a:xfrm>
          <a:prstGeom prst="rect">
            <a:avLst/>
          </a:prstGeom>
        </p:spPr>
      </p:pic>
      <p:pic>
        <p:nvPicPr>
          <p:cNvPr id="16" name="Gráfico 15">
            <a:hlinkClick r:id="rId10"/>
            <a:extLst>
              <a:ext uri="{FF2B5EF4-FFF2-40B4-BE49-F238E27FC236}">
                <a16:creationId xmlns:a16="http://schemas.microsoft.com/office/drawing/2014/main" id="{C8A8C643-DC31-A1E1-CC8C-34E255751FB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35089" y="4427011"/>
            <a:ext cx="206259" cy="198893"/>
          </a:xfrm>
          <a:prstGeom prst="rect">
            <a:avLst/>
          </a:prstGeom>
        </p:spPr>
      </p:pic>
      <p:pic>
        <p:nvPicPr>
          <p:cNvPr id="20" name="Gráfico 19">
            <a:hlinkClick r:id="rId13"/>
            <a:extLst>
              <a:ext uri="{FF2B5EF4-FFF2-40B4-BE49-F238E27FC236}">
                <a16:creationId xmlns:a16="http://schemas.microsoft.com/office/drawing/2014/main" id="{0337FEDE-3E8D-E5E9-440C-080EF98C6F4C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385348" y="4440283"/>
            <a:ext cx="225210" cy="183845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E7078895-3F0F-A359-7753-E1200D34CEBB}"/>
              </a:ext>
            </a:extLst>
          </p:cNvPr>
          <p:cNvSpPr txBox="1">
            <a:spLocks/>
          </p:cNvSpPr>
          <p:nvPr/>
        </p:nvSpPr>
        <p:spPr>
          <a:xfrm>
            <a:off x="1717443" y="2815416"/>
            <a:ext cx="3198686" cy="9105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 Nova" panose="020B0504020202020204" pitchFamily="34" charset="0"/>
                <a:ea typeface="+mj-ea"/>
                <a:cs typeface="+mj-cs"/>
              </a:defRPr>
            </a:lvl1pPr>
          </a:lstStyle>
          <a:p>
            <a:r>
              <a:rPr lang="pt-BR" sz="2000" b="1" dirty="0">
                <a:latin typeface="Archivo" pitchFamily="2" charset="0"/>
                <a:cs typeface="Archivo" pitchFamily="2" charset="0"/>
              </a:rPr>
              <a:t>Vinícius de Abreu Batista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FCF252C6-F48C-BA6F-5A05-5B706C3A7E95}"/>
              </a:ext>
            </a:extLst>
          </p:cNvPr>
          <p:cNvSpPr txBox="1">
            <a:spLocks/>
          </p:cNvSpPr>
          <p:nvPr/>
        </p:nvSpPr>
        <p:spPr>
          <a:xfrm>
            <a:off x="1717443" y="3512534"/>
            <a:ext cx="4086218" cy="79008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pt-BR" sz="1600" b="1" i="1" dirty="0">
                <a:solidFill>
                  <a:srgbClr val="F7505A"/>
                </a:solidFill>
                <a:effectLst/>
              </a:rPr>
              <a:t>{</a:t>
            </a:r>
            <a:r>
              <a:rPr lang="pt-BR" sz="1600" b="0" i="0" dirty="0">
                <a:solidFill>
                  <a:schemeClr val="tx1"/>
                </a:solidFill>
                <a:effectLst/>
              </a:rPr>
              <a:t> Graduado em Gestão Financeira e desenvolvedor Delphi com mais de 4 anos de experiência e desenvolvedor na Fiorilli Software</a:t>
            </a:r>
            <a:endParaRPr lang="pt-BR" sz="1600" dirty="0">
              <a:solidFill>
                <a:schemeClr val="tx1"/>
              </a:solidFill>
              <a:cs typeface="Archivo" pitchFamily="2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41E5BAE-56AF-513E-BF95-DFC4DB7E314F}"/>
              </a:ext>
            </a:extLst>
          </p:cNvPr>
          <p:cNvSpPr/>
          <p:nvPr/>
        </p:nvSpPr>
        <p:spPr>
          <a:xfrm>
            <a:off x="1839857" y="1187994"/>
            <a:ext cx="1390998" cy="1390997"/>
          </a:xfrm>
          <a:prstGeom prst="roundRect">
            <a:avLst>
              <a:gd name="adj" fmla="val 6221"/>
            </a:avLst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latin typeface="Arial Nova" panose="020B0504020202020204" pitchFamily="34" charset="0"/>
              </a:rPr>
              <a:t>Inserir foto do palestrante aqui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40F2A74-0E0A-D696-1967-A0AF6DB3C8C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17443" y="1178971"/>
            <a:ext cx="1794322" cy="146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882422"/>
      </p:ext>
    </p:extLst>
  </p:cSld>
  <p:clrMapOvr>
    <a:masterClrMapping/>
  </p:clrMapOvr>
  <p:transition spd="slow">
    <p:push dir="r"/>
  </p:transition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6" name="Rectangle 1071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8" name="Picture 4" descr="Fiorilli Software – Assistência e consultoria municipal">
            <a:extLst>
              <a:ext uri="{FF2B5EF4-FFF2-40B4-BE49-F238E27FC236}">
                <a16:creationId xmlns:a16="http://schemas.microsoft.com/office/drawing/2014/main" id="{BBC5066E-7291-1FB7-6859-3A0A1A6AFE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84" r="4" b="18765"/>
          <a:stretch/>
        </p:blipFill>
        <p:spPr bwMode="auto">
          <a:xfrm>
            <a:off x="20" y="10"/>
            <a:ext cx="12191980" cy="446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7" name="Rectangle: Rounded Corners 1073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6FC17F-9827-3344-A923-359E9665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Fiorilli S/C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FF8935-099F-9BB1-C4EA-7D7E30632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4956314"/>
            <a:ext cx="11058144" cy="1801102"/>
          </a:xfrm>
        </p:spPr>
        <p:txBody>
          <a:bodyPr>
            <a:normAutofit/>
          </a:bodyPr>
          <a:lstStyle/>
          <a:p>
            <a: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  <a:t>Atuando há mais de 48 anos</a:t>
            </a:r>
          </a:p>
          <a:p>
            <a: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  <a:t>Uma das maiores empresas do Brasil no desenvolvimento de softwares de gestão pública</a:t>
            </a:r>
          </a:p>
          <a:p>
            <a: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  <a:t>Presentes em mais de 1000 municípios facilitando a rotina de mais de 2500 órgãos públicos</a:t>
            </a:r>
          </a:p>
          <a:p>
            <a: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  <a:t>Líder de mercado, é a empresa que mais cresce em seu segmento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709676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52C392D2-FD34-254F-8C24-564EEDF964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3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480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991FF7D-193D-F619-9A59-4D8955BEF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3173"/>
            <a:ext cx="9144000" cy="1655762"/>
          </a:xfrm>
        </p:spPr>
        <p:txBody>
          <a:bodyPr/>
          <a:lstStyle/>
          <a:p>
            <a:r>
              <a:rPr lang="pt-BR" dirty="0"/>
              <a:t>Desenvolvimento WEB com Delphi</a:t>
            </a:r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27F89273-B30E-2B88-1562-4A62DD419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71011"/>
            <a:ext cx="9144000" cy="1655762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pt-BR" sz="1400" dirty="0">
                <a:solidFill>
                  <a:schemeClr val="tx1"/>
                </a:solidFill>
                <a:cs typeface="Archivo" pitchFamily="2" charset="0"/>
              </a:rPr>
              <a:t>O que temos em casa?</a:t>
            </a:r>
          </a:p>
          <a:p>
            <a:pPr marL="285750" indent="-285750" algn="l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cs typeface="Archivo" pitchFamily="2" charset="0"/>
              </a:rPr>
              <a:t>Unigui</a:t>
            </a:r>
          </a:p>
          <a:p>
            <a:pPr marL="285750" indent="-285750" algn="l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cs typeface="Archivo" pitchFamily="2" charset="0"/>
              </a:rPr>
              <a:t>IntraWeb</a:t>
            </a:r>
          </a:p>
          <a:p>
            <a:pPr marL="285750" indent="-285750" algn="l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cs typeface="Archivo" pitchFamily="2" charset="0"/>
              </a:rPr>
              <a:t>TMSWebCore</a:t>
            </a:r>
          </a:p>
          <a:p>
            <a:pPr marL="285750" indent="-285750" algn="l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cs typeface="Archivo" pitchFamily="2" charset="0"/>
              </a:rPr>
              <a:t>WebBroker</a:t>
            </a:r>
          </a:p>
          <a:p>
            <a:pPr marL="285750" indent="-285750" algn="l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cs typeface="Archivo" pitchFamily="2" charset="0"/>
              </a:rPr>
              <a:t>Horse</a:t>
            </a:r>
          </a:p>
          <a:p>
            <a:pPr marL="285750" indent="-285750" algn="l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cs typeface="Archivo" pitchFamily="2" charset="0"/>
              </a:rPr>
              <a:t>DMVC</a:t>
            </a:r>
          </a:p>
          <a:p>
            <a:pPr marL="285750" indent="-285750" algn="l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cs typeface="Archivo" pitchFamily="2" charset="0"/>
              </a:rPr>
              <a:t>MARS</a:t>
            </a:r>
          </a:p>
          <a:p>
            <a:pPr marL="285750" indent="-285750" algn="l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/>
              </a:solidFill>
              <a:cs typeface="Archivo" pitchFamily="2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E6F32F12-C837-EB7B-B470-855EA5BA0AAB}"/>
              </a:ext>
            </a:extLst>
          </p:cNvPr>
          <p:cNvSpPr txBox="1">
            <a:spLocks/>
          </p:cNvSpPr>
          <p:nvPr/>
        </p:nvSpPr>
        <p:spPr>
          <a:xfrm>
            <a:off x="6297296" y="4834714"/>
            <a:ext cx="4678456" cy="1107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Bef>
                <a:spcPts val="600"/>
              </a:spcBef>
            </a:pPr>
            <a:endParaRPr lang="pt-BR" sz="1400" dirty="0">
              <a:solidFill>
                <a:schemeClr val="tx1"/>
              </a:solidFill>
              <a:cs typeface="Archiv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196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991FF7D-193D-F619-9A59-4D8955BEF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16069"/>
            <a:ext cx="9144000" cy="782183"/>
          </a:xfrm>
        </p:spPr>
        <p:txBody>
          <a:bodyPr/>
          <a:lstStyle/>
          <a:p>
            <a:r>
              <a:rPr lang="pt-BR" dirty="0"/>
              <a:t>Horse – REST Framework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E6F32F12-C837-EB7B-B470-855EA5BA0AAB}"/>
              </a:ext>
            </a:extLst>
          </p:cNvPr>
          <p:cNvSpPr txBox="1">
            <a:spLocks/>
          </p:cNvSpPr>
          <p:nvPr/>
        </p:nvSpPr>
        <p:spPr>
          <a:xfrm>
            <a:off x="6297296" y="4834714"/>
            <a:ext cx="4678456" cy="1107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Bef>
                <a:spcPts val="600"/>
              </a:spcBef>
            </a:pPr>
            <a:endParaRPr lang="pt-BR" sz="1400" dirty="0">
              <a:solidFill>
                <a:schemeClr val="tx1"/>
              </a:solidFill>
              <a:cs typeface="Archivo" pitchFamily="2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6AFDE81-489B-A86E-4BCB-FE2E9F02F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032" y="1855272"/>
            <a:ext cx="7795936" cy="455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788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991FF7D-193D-F619-9A59-4D8955BEF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16069"/>
            <a:ext cx="9144000" cy="810176"/>
          </a:xfrm>
        </p:spPr>
        <p:txBody>
          <a:bodyPr/>
          <a:lstStyle/>
          <a:p>
            <a:r>
              <a:rPr lang="pt-BR" dirty="0" err="1"/>
              <a:t>Sempare</a:t>
            </a:r>
            <a:r>
              <a:rPr lang="pt-BR" dirty="0"/>
              <a:t> – </a:t>
            </a:r>
            <a:r>
              <a:rPr lang="pt-BR" dirty="0" err="1"/>
              <a:t>Template</a:t>
            </a:r>
            <a:r>
              <a:rPr lang="pt-BR" dirty="0"/>
              <a:t> </a:t>
            </a:r>
            <a:r>
              <a:rPr lang="pt-BR" dirty="0" err="1"/>
              <a:t>Engine</a:t>
            </a:r>
            <a:endParaRPr lang="pt-BR" dirty="0"/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27F89273-B30E-2B88-1562-4A62DD419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09958"/>
            <a:ext cx="9144000" cy="384703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pt-BR" sz="1400" dirty="0">
                <a:solidFill>
                  <a:schemeClr val="tx1"/>
                </a:solidFill>
                <a:cs typeface="Archivo" pitchFamily="2" charset="0"/>
              </a:rPr>
              <a:t>Um </a:t>
            </a:r>
            <a:r>
              <a:rPr lang="pt-BR" sz="1400" dirty="0" err="1">
                <a:solidFill>
                  <a:schemeClr val="tx1"/>
                </a:solidFill>
                <a:cs typeface="Archivo" pitchFamily="2" charset="0"/>
              </a:rPr>
              <a:t>template</a:t>
            </a:r>
            <a:r>
              <a:rPr lang="pt-BR" sz="1400" dirty="0">
                <a:solidFill>
                  <a:schemeClr val="tx1"/>
                </a:solidFill>
                <a:cs typeface="Archivo" pitchFamily="2" charset="0"/>
              </a:rPr>
              <a:t> </a:t>
            </a:r>
            <a:r>
              <a:rPr lang="pt-BR" sz="1400" dirty="0" err="1">
                <a:solidFill>
                  <a:schemeClr val="tx1"/>
                </a:solidFill>
                <a:cs typeface="Archivo" pitchFamily="2" charset="0"/>
              </a:rPr>
              <a:t>engine</a:t>
            </a:r>
            <a:r>
              <a:rPr lang="pt-BR" sz="1400" dirty="0">
                <a:solidFill>
                  <a:schemeClr val="tx1"/>
                </a:solidFill>
                <a:cs typeface="Archivo" pitchFamily="2" charset="0"/>
              </a:rPr>
              <a:t> é uma ferramenta que cria páginas dinâmicas usando recursos de programação e dados externos. Ele transforma o código dos </a:t>
            </a:r>
            <a:r>
              <a:rPr lang="pt-BR" sz="1400" dirty="0" err="1">
                <a:solidFill>
                  <a:schemeClr val="tx1"/>
                </a:solidFill>
                <a:cs typeface="Archivo" pitchFamily="2" charset="0"/>
              </a:rPr>
              <a:t>templates</a:t>
            </a:r>
            <a:r>
              <a:rPr lang="pt-BR" sz="1400" dirty="0">
                <a:solidFill>
                  <a:schemeClr val="tx1"/>
                </a:solidFill>
                <a:cs typeface="Archivo" pitchFamily="2" charset="0"/>
              </a:rPr>
              <a:t> em HTML puro para os navegadores.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endParaRPr lang="pt-BR" sz="1400" dirty="0">
              <a:cs typeface="Archivo" pitchFamily="2" charset="0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pt-BR" sz="1400" dirty="0">
                <a:cs typeface="Archivo" pitchFamily="2" charset="0"/>
              </a:rPr>
              <a:t>Repositório GitHub - </a:t>
            </a:r>
            <a:r>
              <a:rPr lang="pt-BR" sz="1400" dirty="0">
                <a:cs typeface="Archivo" pitchFamily="2" charset="0"/>
                <a:hlinkClick r:id="rId4"/>
              </a:rPr>
              <a:t>https://github.com/sempare/sempare-delphi-template-engine</a:t>
            </a:r>
            <a:endParaRPr lang="pt-BR" sz="1400" dirty="0">
              <a:cs typeface="Archivo" pitchFamily="2" charset="0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endParaRPr lang="pt-BR" sz="1400" dirty="0">
              <a:solidFill>
                <a:schemeClr val="tx1"/>
              </a:solidFill>
              <a:cs typeface="Archivo" pitchFamily="2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E6F32F12-C837-EB7B-B470-855EA5BA0AAB}"/>
              </a:ext>
            </a:extLst>
          </p:cNvPr>
          <p:cNvSpPr txBox="1">
            <a:spLocks/>
          </p:cNvSpPr>
          <p:nvPr/>
        </p:nvSpPr>
        <p:spPr>
          <a:xfrm>
            <a:off x="6297296" y="4834714"/>
            <a:ext cx="4678456" cy="1107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chiv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414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991FF7D-193D-F619-9A59-4D8955BEF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4089"/>
            <a:ext cx="9144000" cy="838168"/>
          </a:xfrm>
        </p:spPr>
        <p:txBody>
          <a:bodyPr/>
          <a:lstStyle/>
          <a:p>
            <a:r>
              <a:rPr lang="pt-BR" dirty="0"/>
              <a:t>Sempare – Template Engine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E6F32F12-C837-EB7B-B470-855EA5BA0AAB}"/>
              </a:ext>
            </a:extLst>
          </p:cNvPr>
          <p:cNvSpPr txBox="1">
            <a:spLocks/>
          </p:cNvSpPr>
          <p:nvPr/>
        </p:nvSpPr>
        <p:spPr>
          <a:xfrm>
            <a:off x="6297296" y="4834714"/>
            <a:ext cx="4678456" cy="1107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Bef>
                <a:spcPts val="600"/>
              </a:spcBef>
            </a:pPr>
            <a:endParaRPr lang="pt-BR" sz="1400" dirty="0">
              <a:solidFill>
                <a:schemeClr val="tx1"/>
              </a:solidFill>
              <a:cs typeface="Archivo" pitchFamily="2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6269BDF-5EFF-F8A4-AE8E-A9E6597F1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653" y="1798991"/>
            <a:ext cx="7780694" cy="358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834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991FF7D-193D-F619-9A59-4D8955BEF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723123"/>
            <a:ext cx="10458450" cy="1655762"/>
          </a:xfrm>
        </p:spPr>
        <p:txBody>
          <a:bodyPr/>
          <a:lstStyle/>
          <a:p>
            <a:r>
              <a:rPr lang="pt-BR" dirty="0"/>
              <a:t>MVC – MODEL VIEW CONTROLLER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E6F32F12-C837-EB7B-B470-855EA5BA0AAB}"/>
              </a:ext>
            </a:extLst>
          </p:cNvPr>
          <p:cNvSpPr txBox="1">
            <a:spLocks/>
          </p:cNvSpPr>
          <p:nvPr/>
        </p:nvSpPr>
        <p:spPr>
          <a:xfrm>
            <a:off x="6297296" y="4834714"/>
            <a:ext cx="4678456" cy="1107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chivo" pitchFamily="2" charset="0"/>
            </a:endParaRPr>
          </a:p>
        </p:txBody>
      </p:sp>
      <p:pic>
        <p:nvPicPr>
          <p:cNvPr id="6" name="Imagem 5" descr="Diagrama&#10;&#10;Descrição gerada automaticamente">
            <a:extLst>
              <a:ext uri="{FF2B5EF4-FFF2-40B4-BE49-F238E27FC236}">
                <a16:creationId xmlns:a16="http://schemas.microsoft.com/office/drawing/2014/main" id="{110E7837-FC93-290B-7C6B-C0273803E5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674" y="3055252"/>
            <a:ext cx="5710652" cy="233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58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2">
            <a:extLst>
              <a:ext uri="{FF2B5EF4-FFF2-40B4-BE49-F238E27FC236}">
                <a16:creationId xmlns:a16="http://schemas.microsoft.com/office/drawing/2014/main" id="{E6F32F12-C837-EB7B-B470-855EA5BA0AAB}"/>
              </a:ext>
            </a:extLst>
          </p:cNvPr>
          <p:cNvSpPr txBox="1">
            <a:spLocks/>
          </p:cNvSpPr>
          <p:nvPr/>
        </p:nvSpPr>
        <p:spPr>
          <a:xfrm>
            <a:off x="6297296" y="4834714"/>
            <a:ext cx="4678456" cy="1107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chivo" pitchFamily="2" charset="0"/>
            </a:endParaRPr>
          </a:p>
        </p:txBody>
      </p:sp>
      <p:pic>
        <p:nvPicPr>
          <p:cNvPr id="2050" name="Picture 2" descr="Qual a importância de colocar a mão na massa?">
            <a:extLst>
              <a:ext uri="{FF2B5EF4-FFF2-40B4-BE49-F238E27FC236}">
                <a16:creationId xmlns:a16="http://schemas.microsoft.com/office/drawing/2014/main" id="{61F6A68A-BE35-4539-5766-ABBDFBDD1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162050"/>
            <a:ext cx="8953500" cy="453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4746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FABAAC2B-F204-21D3-1E8F-3EF54009D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053" y="1087543"/>
            <a:ext cx="4977161" cy="1060485"/>
          </a:xfrm>
        </p:spPr>
        <p:txBody>
          <a:bodyPr>
            <a:noAutofit/>
          </a:bodyPr>
          <a:lstStyle/>
          <a:p>
            <a:pPr algn="l"/>
            <a:r>
              <a:rPr lang="pt-BR" sz="4000">
                <a:latin typeface="Arial Nova"/>
                <a:cs typeface="Archivo" pitchFamily="2" charset="0"/>
              </a:rPr>
              <a:t>O que você achou da palestra?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A1676906-58F4-DF34-8EF7-3D1006C33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053" y="2148028"/>
            <a:ext cx="4977161" cy="1356386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pt-BR">
                <a:solidFill>
                  <a:schemeClr val="tx1"/>
                </a:solidFill>
                <a:latin typeface="Archivo" pitchFamily="2" charset="0"/>
                <a:cs typeface="Archivo" pitchFamily="2" charset="0"/>
              </a:rPr>
              <a:t>Acesse o link do QR </a:t>
            </a:r>
            <a:r>
              <a:rPr lang="pt-BR" err="1">
                <a:solidFill>
                  <a:schemeClr val="tx1"/>
                </a:solidFill>
                <a:latin typeface="Archivo" pitchFamily="2" charset="0"/>
                <a:cs typeface="Archivo" pitchFamily="2" charset="0"/>
              </a:rPr>
              <a:t>Code</a:t>
            </a:r>
            <a:r>
              <a:rPr lang="pt-BR">
                <a:solidFill>
                  <a:schemeClr val="tx1"/>
                </a:solidFill>
                <a:latin typeface="Archivo" pitchFamily="2" charset="0"/>
                <a:cs typeface="Archivo" pitchFamily="2" charset="0"/>
              </a:rPr>
              <a:t> ao lado e responda a pesquisa.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7ACB139A-DDE3-1019-960B-CB5A215FF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3308" y="1087543"/>
            <a:ext cx="4682913" cy="468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031093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209</Words>
  <Application>Microsoft Office PowerPoint</Application>
  <PresentationFormat>Widescreen</PresentationFormat>
  <Paragraphs>38</Paragraphs>
  <Slides>11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11</vt:i4>
      </vt:variant>
    </vt:vector>
  </HeadingPairs>
  <TitlesOfParts>
    <vt:vector size="21" baseType="lpstr">
      <vt:lpstr>Archivo</vt:lpstr>
      <vt:lpstr>Archivo SemiBold</vt:lpstr>
      <vt:lpstr>Archivo Thin</vt:lpstr>
      <vt:lpstr>Arial</vt:lpstr>
      <vt:lpstr>Arial Nova</vt:lpstr>
      <vt:lpstr>Calibri</vt:lpstr>
      <vt:lpstr>Calibri Light</vt:lpstr>
      <vt:lpstr>Segoe UI</vt:lpstr>
      <vt:lpstr>1_Tema do Office</vt:lpstr>
      <vt:lpstr>Tema do Office</vt:lpstr>
      <vt:lpstr>Criando uma aplicação fullstack com Horse e Sempare</vt:lpstr>
      <vt:lpstr>Apresentação do PowerPoint</vt:lpstr>
      <vt:lpstr>Fiorilli S/C Software</vt:lpstr>
      <vt:lpstr>Apresentação do PowerPoint</vt:lpstr>
      <vt:lpstr>Desenvolvimento WEB com Delphi</vt:lpstr>
      <vt:lpstr>Horse – REST Framework</vt:lpstr>
      <vt:lpstr>Sempare – Template Engine</vt:lpstr>
      <vt:lpstr>Sempare – Template Engine</vt:lpstr>
      <vt:lpstr>MVC – MODEL VIEW CONTROLLER</vt:lpstr>
      <vt:lpstr>Apresentação do PowerPoint</vt:lpstr>
      <vt:lpstr>O que você achou da palestra?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Criando uma aplicação fullstack com Horse e Sempare</dc:title>
  <dc:creator>Vinicius Abreu Batista</dc:creator>
  <cp:lastModifiedBy>Vinicius Abreu Batista</cp:lastModifiedBy>
  <cp:revision>8</cp:revision>
  <dcterms:created xsi:type="dcterms:W3CDTF">2023-09-26T23:23:59Z</dcterms:created>
  <dcterms:modified xsi:type="dcterms:W3CDTF">2023-11-08T12:23:46Z</dcterms:modified>
</cp:coreProperties>
</file>