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04_C5DEC6A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22" r:id="rId3"/>
    <p:sldId id="257" r:id="rId4"/>
    <p:sldId id="263" r:id="rId5"/>
    <p:sldId id="325" r:id="rId6"/>
    <p:sldId id="259" r:id="rId7"/>
    <p:sldId id="264" r:id="rId8"/>
    <p:sldId id="267" r:id="rId9"/>
    <p:sldId id="265" r:id="rId10"/>
    <p:sldId id="268" r:id="rId11"/>
    <p:sldId id="323" r:id="rId12"/>
    <p:sldId id="324" r:id="rId13"/>
    <p:sldId id="271" r:id="rId14"/>
    <p:sldId id="270" r:id="rId15"/>
    <p:sldId id="272" r:id="rId16"/>
    <p:sldId id="273" r:id="rId17"/>
    <p:sldId id="274" r:id="rId18"/>
    <p:sldId id="275" r:id="rId19"/>
    <p:sldId id="276" r:id="rId20"/>
    <p:sldId id="278" r:id="rId21"/>
    <p:sldId id="277" r:id="rId22"/>
    <p:sldId id="260" r:id="rId2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3BCAAB-2054-35CC-BAAD-424006A7373B}" name="Raphael Clementino da Silva" initials="RCdS" userId="S::rsilva@ttrends.com.br::8644060d-0444-4b4c-8a80-6f66d7a0bb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47" d="100"/>
          <a:sy n="47" d="100"/>
        </p:scale>
        <p:origin x="979" y="4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modernComment_104_C5DEC6A6.xml><?xml version="1.0" encoding="utf-8"?>
<p188:cmLst xmlns:a="http://schemas.openxmlformats.org/drawingml/2006/main" xmlns:r="http://schemas.openxmlformats.org/officeDocument/2006/relationships" xmlns:p188="http://schemas.microsoft.com/office/powerpoint/2018/8/main">
  <p188:cm id="{303C9F3D-FD48-42AD-9069-A97180F2F69C}" authorId="{FD3BCAAB-2054-35CC-BAAD-424006A7373B}" created="2024-08-16T20:22:26.557">
    <pc:sldMkLst xmlns:pc="http://schemas.microsoft.com/office/powerpoint/2013/main/command">
      <pc:docMk/>
      <pc:sldMk cId="3319711398" sldId="260"/>
    </pc:sldMkLst>
    <p188:txBody>
      <a:bodyPr/>
      <a:lstStyle/>
      <a:p>
        <a:r>
          <a:rPr lang="pt-BR"/>
          <a:t>Inserir as redes sociais e foto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668A7-923C-4EB4-BD76-9EF13C08D069}" type="datetimeFigureOut">
              <a:rPr lang="pt-BR" smtClean="0"/>
              <a:t>05/09/2024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68EE1-75FB-413F-A8AD-A25FBFFAC494}" type="slidenum">
              <a:rPr lang="pt-BR" smtClean="0"/>
              <a:t>‹nº›</a:t>
            </a:fld>
            <a:endParaRPr lang="pt-BR"/>
          </a:p>
        </p:txBody>
      </p:sp>
    </p:spTree>
    <p:extLst>
      <p:ext uri="{BB962C8B-B14F-4D97-AF65-F5344CB8AC3E}">
        <p14:creationId xmlns:p14="http://schemas.microsoft.com/office/powerpoint/2010/main" val="1575135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CAPA</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a:t>
            </a:fld>
            <a:endParaRPr lang="pt-BR"/>
          </a:p>
        </p:txBody>
      </p:sp>
    </p:spTree>
    <p:extLst>
      <p:ext uri="{BB962C8B-B14F-4D97-AF65-F5344CB8AC3E}">
        <p14:creationId xmlns:p14="http://schemas.microsoft.com/office/powerpoint/2010/main" val="1644678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3</a:t>
            </a:fld>
            <a:endParaRPr lang="pt-BR"/>
          </a:p>
        </p:txBody>
      </p:sp>
    </p:spTree>
    <p:extLst>
      <p:ext uri="{BB962C8B-B14F-4D97-AF65-F5344CB8AC3E}">
        <p14:creationId xmlns:p14="http://schemas.microsoft.com/office/powerpoint/2010/main" val="1191861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4314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9428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6</a:t>
            </a:fld>
            <a:endParaRPr lang="pt-BR"/>
          </a:p>
        </p:txBody>
      </p:sp>
    </p:spTree>
    <p:extLst>
      <p:ext uri="{BB962C8B-B14F-4D97-AF65-F5344CB8AC3E}">
        <p14:creationId xmlns:p14="http://schemas.microsoft.com/office/powerpoint/2010/main" val="410960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7</a:t>
            </a:fld>
            <a:endParaRPr lang="pt-BR"/>
          </a:p>
        </p:txBody>
      </p:sp>
    </p:spTree>
    <p:extLst>
      <p:ext uri="{BB962C8B-B14F-4D97-AF65-F5344CB8AC3E}">
        <p14:creationId xmlns:p14="http://schemas.microsoft.com/office/powerpoint/2010/main" val="3536308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8</a:t>
            </a:fld>
            <a:endParaRPr lang="pt-BR"/>
          </a:p>
        </p:txBody>
      </p:sp>
    </p:spTree>
    <p:extLst>
      <p:ext uri="{BB962C8B-B14F-4D97-AF65-F5344CB8AC3E}">
        <p14:creationId xmlns:p14="http://schemas.microsoft.com/office/powerpoint/2010/main" val="3329546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9</a:t>
            </a:fld>
            <a:endParaRPr lang="pt-BR"/>
          </a:p>
        </p:txBody>
      </p:sp>
    </p:spTree>
    <p:extLst>
      <p:ext uri="{BB962C8B-B14F-4D97-AF65-F5344CB8AC3E}">
        <p14:creationId xmlns:p14="http://schemas.microsoft.com/office/powerpoint/2010/main" val="3976465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10</a:t>
            </a:fld>
            <a:endParaRPr lang="pt-BR"/>
          </a:p>
        </p:txBody>
      </p:sp>
    </p:spTree>
    <p:extLst>
      <p:ext uri="{BB962C8B-B14F-4D97-AF65-F5344CB8AC3E}">
        <p14:creationId xmlns:p14="http://schemas.microsoft.com/office/powerpoint/2010/main" val="1066161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0341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6890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2661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14</a:t>
            </a:fld>
            <a:endParaRPr lang="pt-BR"/>
          </a:p>
        </p:txBody>
      </p:sp>
    </p:spTree>
    <p:extLst>
      <p:ext uri="{BB962C8B-B14F-4D97-AF65-F5344CB8AC3E}">
        <p14:creationId xmlns:p14="http://schemas.microsoft.com/office/powerpoint/2010/main" val="1928992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15</a:t>
            </a:fld>
            <a:endParaRPr lang="pt-BR"/>
          </a:p>
        </p:txBody>
      </p:sp>
    </p:spTree>
    <p:extLst>
      <p:ext uri="{BB962C8B-B14F-4D97-AF65-F5344CB8AC3E}">
        <p14:creationId xmlns:p14="http://schemas.microsoft.com/office/powerpoint/2010/main" val="2718519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16</a:t>
            </a:fld>
            <a:endParaRPr lang="pt-BR"/>
          </a:p>
        </p:txBody>
      </p:sp>
    </p:spTree>
    <p:extLst>
      <p:ext uri="{BB962C8B-B14F-4D97-AF65-F5344CB8AC3E}">
        <p14:creationId xmlns:p14="http://schemas.microsoft.com/office/powerpoint/2010/main" val="3226736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17</a:t>
            </a:fld>
            <a:endParaRPr lang="pt-BR"/>
          </a:p>
        </p:txBody>
      </p:sp>
    </p:spTree>
    <p:extLst>
      <p:ext uri="{BB962C8B-B14F-4D97-AF65-F5344CB8AC3E}">
        <p14:creationId xmlns:p14="http://schemas.microsoft.com/office/powerpoint/2010/main" val="977258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18</a:t>
            </a:fld>
            <a:endParaRPr lang="pt-BR"/>
          </a:p>
        </p:txBody>
      </p:sp>
    </p:spTree>
    <p:extLst>
      <p:ext uri="{BB962C8B-B14F-4D97-AF65-F5344CB8AC3E}">
        <p14:creationId xmlns:p14="http://schemas.microsoft.com/office/powerpoint/2010/main" val="2432262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19</a:t>
            </a:fld>
            <a:endParaRPr lang="pt-BR"/>
          </a:p>
        </p:txBody>
      </p:sp>
    </p:spTree>
    <p:extLst>
      <p:ext uri="{BB962C8B-B14F-4D97-AF65-F5344CB8AC3E}">
        <p14:creationId xmlns:p14="http://schemas.microsoft.com/office/powerpoint/2010/main" val="1579809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568EE1-75FB-413F-A8AD-A25FBFFAC494}"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5039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DE TRANSIÇÃO</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21</a:t>
            </a:fld>
            <a:endParaRPr lang="pt-BR"/>
          </a:p>
        </p:txBody>
      </p:sp>
    </p:spTree>
    <p:extLst>
      <p:ext uri="{BB962C8B-B14F-4D97-AF65-F5344CB8AC3E}">
        <p14:creationId xmlns:p14="http://schemas.microsoft.com/office/powerpoint/2010/main" val="3265885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SLIDE FINAL</a:t>
            </a:r>
          </a:p>
        </p:txBody>
      </p:sp>
      <p:sp>
        <p:nvSpPr>
          <p:cNvPr id="4" name="Espaço Reservado para Número de Slide 3"/>
          <p:cNvSpPr>
            <a:spLocks noGrp="1"/>
          </p:cNvSpPr>
          <p:nvPr>
            <p:ph type="sldNum" sz="quarter" idx="5"/>
          </p:nvPr>
        </p:nvSpPr>
        <p:spPr/>
        <p:txBody>
          <a:bodyPr/>
          <a:lstStyle/>
          <a:p>
            <a:fld id="{60568EE1-75FB-413F-A8AD-A25FBFFAC494}" type="slidenum">
              <a:rPr lang="pt-BR" smtClean="0"/>
              <a:t>22</a:t>
            </a:fld>
            <a:endParaRPr lang="pt-BR"/>
          </a:p>
        </p:txBody>
      </p:sp>
    </p:spTree>
    <p:extLst>
      <p:ext uri="{BB962C8B-B14F-4D97-AF65-F5344CB8AC3E}">
        <p14:creationId xmlns:p14="http://schemas.microsoft.com/office/powerpoint/2010/main" val="70409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0A334E-3C43-3C43-819A-D886D6BBB492}"/>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B8F571B-B37F-0CC5-7F06-36811F7DA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25E0F08-30B8-FB60-412A-503B51061914}"/>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EB77C148-56CD-8BD3-FF07-4BDA43A5D82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4A2AF14-9043-0510-6B96-E0A927275299}"/>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535127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437A8E-A0BF-C705-A86E-B595CCD5598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6E981A9-A6C7-206F-D10B-98CF1D5183C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B118384-8051-9A56-64CE-04425980015B}"/>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EA2DA443-CD16-F06C-CC7A-9B4D880FF88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80FB380-1F50-899A-5E9C-68E7E4C43201}"/>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2298517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38707-D6CE-7496-783A-565FDE1D16A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BBADEFF-2C04-3093-30A8-8DC23B05C3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81DDB26-04D9-72E6-01BF-50351DA98F71}"/>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EBE5928A-E318-9376-F666-C7AFA6E8543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0168F24-4A77-5C70-CBAF-6C83C56BEFDF}"/>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318381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07B290-AD46-B48A-3980-21567C98A23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57652D7-87E6-25AE-6A04-5C6CD007452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7696406-30A0-DB33-9B90-6EB09279A15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DBBA9323-AD93-1B86-7198-D6DC38A976E5}"/>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6" name="Espaço Reservado para Rodapé 5">
            <a:extLst>
              <a:ext uri="{FF2B5EF4-FFF2-40B4-BE49-F238E27FC236}">
                <a16:creationId xmlns:a16="http://schemas.microsoft.com/office/drawing/2014/main" id="{5B5E3A40-0A8C-74C2-01B6-1CD35EF8C8F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1BBD59D-070C-F5DF-76C8-6C534DE321A4}"/>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2259419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239CB4-DADE-34C8-5B7C-EB765376E8E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C04718B-D578-665E-47BB-9F809DFADC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E5420C0-2233-20EC-C69B-D8A9752DF45A}"/>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D728599-4A6A-054D-4FEE-DC4A9C2497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6D897A8-6203-D199-6E12-665032D053B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FCB1DCC-0294-7004-D7A3-C8F877D49628}"/>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8" name="Espaço Reservado para Rodapé 7">
            <a:extLst>
              <a:ext uri="{FF2B5EF4-FFF2-40B4-BE49-F238E27FC236}">
                <a16:creationId xmlns:a16="http://schemas.microsoft.com/office/drawing/2014/main" id="{10D75D76-FD8E-120A-6CF7-9D05ED41957C}"/>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42782C4-404D-DFDD-F560-F5317A536BC2}"/>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49683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3C177B-61D0-EF0A-CB48-5077C1F6233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F7900D94-E2C1-C8FE-D410-62A993A05857}"/>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4" name="Espaço Reservado para Rodapé 3">
            <a:extLst>
              <a:ext uri="{FF2B5EF4-FFF2-40B4-BE49-F238E27FC236}">
                <a16:creationId xmlns:a16="http://schemas.microsoft.com/office/drawing/2014/main" id="{4E8C4FAB-5539-8959-E48B-62037D29D527}"/>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A68B646D-26D7-C1EB-92BF-7963FC1624DD}"/>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422898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FF0DD38-F719-E4B4-DD0F-87AD97466D1B}"/>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3" name="Espaço Reservado para Rodapé 2">
            <a:extLst>
              <a:ext uri="{FF2B5EF4-FFF2-40B4-BE49-F238E27FC236}">
                <a16:creationId xmlns:a16="http://schemas.microsoft.com/office/drawing/2014/main" id="{6E07949A-70C9-2831-4FB4-E8EE6D9B604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2AB0576D-568C-1BBE-A239-647B64BFD16A}"/>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341095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02799-C04F-BB14-363D-6D7A16D0975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EDA5DC0E-4681-01B1-26DC-CEE9DC4033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7B24DEEC-AA30-14F0-1374-EC722B6F50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72F5A21E-F4BD-B04A-3EDE-750F1E5E41C0}"/>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6" name="Espaço Reservado para Rodapé 5">
            <a:extLst>
              <a:ext uri="{FF2B5EF4-FFF2-40B4-BE49-F238E27FC236}">
                <a16:creationId xmlns:a16="http://schemas.microsoft.com/office/drawing/2014/main" id="{A67CD0CE-55CD-8A04-EDDA-D95144D9366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7BF1081-B062-0B51-3089-53129F58AC9B}"/>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2107719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3135C8-AE66-7984-5FBC-0C0A357C93B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6BAF7B52-52E1-A0D0-B2F4-CA394D9D10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2E136FE-0579-6273-23D2-BAD4E47DA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DB04CEC-CD5C-F69F-A268-800E479749EA}"/>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6" name="Espaço Reservado para Rodapé 5">
            <a:extLst>
              <a:ext uri="{FF2B5EF4-FFF2-40B4-BE49-F238E27FC236}">
                <a16:creationId xmlns:a16="http://schemas.microsoft.com/office/drawing/2014/main" id="{368F5FD3-6EE4-6EF9-117D-17515352F5C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31E0A86-0CAF-94E0-BE52-A91B07515046}"/>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1286951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9353B2-4BBB-8CAD-186D-2C3E1FEA02B5}"/>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4675AD2-0FCE-C7F9-0566-60C8313734C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C035ED5-EDF0-188F-9292-3D3695DB4009}"/>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084D095C-8A39-CE1B-8869-8C031DA603B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95809F1-7796-AECD-8028-953ED951F1B9}"/>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1751751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63A08C-D8E5-4F3F-6D29-35560D64EDD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111FCF82-A918-59E5-76A3-93D34B15B48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2DB1FF4-275B-4582-A7C0-C75B0416192B}"/>
              </a:ext>
            </a:extLst>
          </p:cNvPr>
          <p:cNvSpPr>
            <a:spLocks noGrp="1"/>
          </p:cNvSpPr>
          <p:nvPr>
            <p:ph type="dt" sz="half" idx="10"/>
          </p:nvPr>
        </p:nvSpPr>
        <p:spPr/>
        <p:txBody>
          <a:body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1730EB17-7AE5-7191-677B-CFEC665B0A3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15D3391-E558-8DFD-E9A6-6D0AE5343ACA}"/>
              </a:ext>
            </a:extLst>
          </p:cNvPr>
          <p:cNvSpPr>
            <a:spLocks noGrp="1"/>
          </p:cNvSpPr>
          <p:nvPr>
            <p:ph type="sldNum" sz="quarter" idx="12"/>
          </p:nvPr>
        </p:nvSpPr>
        <p:spPr/>
        <p:txBody>
          <a:bodyPr/>
          <a:lstStyle/>
          <a:p>
            <a:fld id="{36629764-E4B3-4FE8-8AF6-97ACD1CE205C}" type="slidenum">
              <a:rPr lang="pt-BR" smtClean="0"/>
              <a:t>‹nº›</a:t>
            </a:fld>
            <a:endParaRPr lang="pt-BR"/>
          </a:p>
        </p:txBody>
      </p:sp>
    </p:spTree>
    <p:extLst>
      <p:ext uri="{BB962C8B-B14F-4D97-AF65-F5344CB8AC3E}">
        <p14:creationId xmlns:p14="http://schemas.microsoft.com/office/powerpoint/2010/main" val="2155996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549523F-BB52-1089-A46D-4BFD74257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E5BBAD3-B17E-B506-AB0C-9AB7FBA182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270F751-54BD-9D95-ABAB-5BB273EB43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AA08E5-F8FF-40BC-B73D-AACD68E51733}" type="datetimeFigureOut">
              <a:rPr lang="pt-BR" smtClean="0"/>
              <a:t>05/09/2024</a:t>
            </a:fld>
            <a:endParaRPr lang="pt-BR"/>
          </a:p>
        </p:txBody>
      </p:sp>
      <p:sp>
        <p:nvSpPr>
          <p:cNvPr id="5" name="Espaço Reservado para Rodapé 4">
            <a:extLst>
              <a:ext uri="{FF2B5EF4-FFF2-40B4-BE49-F238E27FC236}">
                <a16:creationId xmlns:a16="http://schemas.microsoft.com/office/drawing/2014/main" id="{8B8186C3-40CF-F916-F7C6-4E43E3EC5F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74CD371C-F3D6-18D4-68FE-674FA5DEB6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629764-E4B3-4FE8-8AF6-97ACD1CE205C}" type="slidenum">
              <a:rPr lang="pt-BR" smtClean="0"/>
              <a:t>‹nº›</a:t>
            </a:fld>
            <a:endParaRPr lang="pt-BR"/>
          </a:p>
        </p:txBody>
      </p:sp>
    </p:spTree>
    <p:extLst>
      <p:ext uri="{BB962C8B-B14F-4D97-AF65-F5344CB8AC3E}">
        <p14:creationId xmlns:p14="http://schemas.microsoft.com/office/powerpoint/2010/main" val="993733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blog.marcocantu.com/blog/2022-december-suggestions-help-delphi-compiler.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gif"/></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8" Type="http://schemas.openxmlformats.org/officeDocument/2006/relationships/hyperlink" Target="https://www.linkedin.com/company/embarcaderobr/" TargetMode="External"/><Relationship Id="rId13" Type="http://schemas.openxmlformats.org/officeDocument/2006/relationships/image" Target="../media/image30.png"/><Relationship Id="rId3" Type="http://schemas.microsoft.com/office/2018/10/relationships/comments" Target="../comments/modernComment_104_C5DEC6A6.xml"/><Relationship Id="rId7" Type="http://schemas.openxmlformats.org/officeDocument/2006/relationships/image" Target="../media/image25.svg"/><Relationship Id="rId12" Type="http://schemas.openxmlformats.org/officeDocument/2006/relationships/image" Target="../media/image29.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hyperlink" Target="https://www.instagram.com/embarcaderobrasil/" TargetMode="External"/><Relationship Id="rId15" Type="http://schemas.openxmlformats.org/officeDocument/2006/relationships/image" Target="../media/image32.jpg"/><Relationship Id="rId10" Type="http://schemas.openxmlformats.org/officeDocument/2006/relationships/image" Target="../media/image27.svg"/><Relationship Id="rId4" Type="http://schemas.openxmlformats.org/officeDocument/2006/relationships/image" Target="../media/image23.png"/><Relationship Id="rId9" Type="http://schemas.openxmlformats.org/officeDocument/2006/relationships/image" Target="../media/image26.png"/><Relationship Id="rId1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175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Fiorilli Software – Assistência e consultoria municipal">
            <a:extLst>
              <a:ext uri="{FF2B5EF4-FFF2-40B4-BE49-F238E27FC236}">
                <a16:creationId xmlns:a16="http://schemas.microsoft.com/office/drawing/2014/main" id="{2AAB08D2-CD5F-E18C-CC94-3A32AC131A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884" r="4" b="18765"/>
          <a:stretch/>
        </p:blipFill>
        <p:spPr bwMode="auto">
          <a:xfrm>
            <a:off x="20" y="10"/>
            <a:ext cx="12191980" cy="4465973"/>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id="{9AFEEC48-AE08-26D8-72DD-5A717F4EEF3B}"/>
              </a:ext>
            </a:extLst>
          </p:cNvPr>
          <p:cNvSpPr/>
          <p:nvPr/>
        </p:nvSpPr>
        <p:spPr>
          <a:xfrm>
            <a:off x="0" y="4059936"/>
            <a:ext cx="9271996" cy="679405"/>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7" name="Título 1">
            <a:extLst>
              <a:ext uri="{FF2B5EF4-FFF2-40B4-BE49-F238E27FC236}">
                <a16:creationId xmlns:a16="http://schemas.microsoft.com/office/drawing/2014/main" id="{723B65D0-41B9-65CA-AC57-95E3AB5CDB13}"/>
              </a:ext>
            </a:extLst>
          </p:cNvPr>
          <p:cNvSpPr txBox="1">
            <a:spLocks/>
          </p:cNvSpPr>
          <p:nvPr/>
        </p:nvSpPr>
        <p:spPr>
          <a:xfrm>
            <a:off x="566928" y="4131606"/>
            <a:ext cx="8557193" cy="536063"/>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800" b="1" kern="1200">
                <a:solidFill>
                  <a:schemeClr val="tx1"/>
                </a:solidFill>
                <a:latin typeface="Arial Nova" panose="020B0504020202020204" pitchFamily="34" charset="0"/>
                <a:ea typeface="+mj-ea"/>
                <a:cs typeface="+mj-cs"/>
              </a:defRPr>
            </a:lvl1pPr>
          </a:lstStyle>
          <a:p>
            <a:r>
              <a:rPr lang="pt-BR" sz="3200" dirty="0">
                <a:solidFill>
                  <a:schemeClr val="bg1"/>
                </a:solidFill>
                <a:latin typeface="Segoe UI" panose="020B0502040204020203" pitchFamily="34" charset="0"/>
                <a:cs typeface="Segoe UI" panose="020B0502040204020203" pitchFamily="34" charset="0"/>
              </a:rPr>
              <a:t>Fiorilli S/C Software</a:t>
            </a:r>
          </a:p>
        </p:txBody>
      </p:sp>
      <p:sp>
        <p:nvSpPr>
          <p:cNvPr id="9" name="Espaço Reservado para Conteúdo 2">
            <a:extLst>
              <a:ext uri="{FF2B5EF4-FFF2-40B4-BE49-F238E27FC236}">
                <a16:creationId xmlns:a16="http://schemas.microsoft.com/office/drawing/2014/main" id="{30260E98-6BA3-BDB1-8FBD-CCC023E83F70}"/>
              </a:ext>
            </a:extLst>
          </p:cNvPr>
          <p:cNvSpPr txBox="1">
            <a:spLocks/>
          </p:cNvSpPr>
          <p:nvPr/>
        </p:nvSpPr>
        <p:spPr>
          <a:xfrm>
            <a:off x="566928" y="4956314"/>
            <a:ext cx="11058144" cy="180110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pt-BR" sz="2000" dirty="0">
                <a:latin typeface="Segoe UI" panose="020B0502040204020203" pitchFamily="34" charset="0"/>
                <a:cs typeface="Segoe UI" panose="020B0502040204020203" pitchFamily="34" charset="0"/>
              </a:rPr>
              <a:t>Atuando há mais de 48 anos</a:t>
            </a:r>
          </a:p>
          <a:p>
            <a:r>
              <a:rPr lang="pt-BR" sz="2000" dirty="0">
                <a:latin typeface="Segoe UI" panose="020B0502040204020203" pitchFamily="34" charset="0"/>
                <a:cs typeface="Segoe UI" panose="020B0502040204020203" pitchFamily="34" charset="0"/>
              </a:rPr>
              <a:t>Uma das maiores empresas do Brasil no desenvolvimento de softwares de gestão pública</a:t>
            </a:r>
          </a:p>
          <a:p>
            <a:r>
              <a:rPr lang="pt-BR" sz="2000" dirty="0">
                <a:latin typeface="Segoe UI" panose="020B0502040204020203" pitchFamily="34" charset="0"/>
                <a:cs typeface="Segoe UI" panose="020B0502040204020203" pitchFamily="34" charset="0"/>
              </a:rPr>
              <a:t>Presentes em mais de 1000 municípios facilitando a rotina de mais de 2500 </a:t>
            </a:r>
            <a:r>
              <a:rPr lang="pt-BR" sz="2000" dirty="0" err="1">
                <a:latin typeface="Segoe UI" panose="020B0502040204020203" pitchFamily="34" charset="0"/>
                <a:cs typeface="Segoe UI" panose="020B0502040204020203" pitchFamily="34" charset="0"/>
              </a:rPr>
              <a:t>orgãos</a:t>
            </a:r>
            <a:r>
              <a:rPr lang="pt-BR" sz="2000" dirty="0">
                <a:latin typeface="Segoe UI" panose="020B0502040204020203" pitchFamily="34" charset="0"/>
                <a:cs typeface="Segoe UI" panose="020B0502040204020203" pitchFamily="34" charset="0"/>
              </a:rPr>
              <a:t> públicos</a:t>
            </a:r>
          </a:p>
          <a:p>
            <a:r>
              <a:rPr lang="pt-BR" sz="2000" dirty="0">
                <a:latin typeface="Segoe UI" panose="020B0502040204020203" pitchFamily="34" charset="0"/>
                <a:cs typeface="Segoe UI" panose="020B0502040204020203" pitchFamily="34" charset="0"/>
              </a:rPr>
              <a:t>Líder de mercado, é a empresa que mais cresce em seu segmento</a:t>
            </a:r>
          </a:p>
          <a:p>
            <a:endParaRPr lang="pt-BR" sz="2000" dirty="0"/>
          </a:p>
        </p:txBody>
      </p:sp>
    </p:spTree>
    <p:extLst>
      <p:ext uri="{BB962C8B-B14F-4D97-AF65-F5344CB8AC3E}">
        <p14:creationId xmlns:p14="http://schemas.microsoft.com/office/powerpoint/2010/main" val="3560430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57CD371E-7D7D-12FE-B361-FB9F6472931D}"/>
              </a:ext>
            </a:extLst>
          </p:cNvPr>
          <p:cNvSpPr>
            <a:spLocks noGrp="1"/>
          </p:cNvSpPr>
          <p:nvPr>
            <p:ph type="ctrTitle"/>
          </p:nvPr>
        </p:nvSpPr>
        <p:spPr>
          <a:xfrm>
            <a:off x="1524000" y="2057399"/>
            <a:ext cx="8312457" cy="900113"/>
          </a:xfrm>
        </p:spPr>
        <p:txBody>
          <a:bodyPr>
            <a:normAutofit fontScale="90000"/>
          </a:bodyPr>
          <a:lstStyle/>
          <a:p>
            <a:pPr algn="l"/>
            <a:r>
              <a:rPr lang="pt-BR" sz="4000" dirty="0">
                <a:solidFill>
                  <a:schemeClr val="bg1"/>
                </a:solidFill>
                <a:latin typeface="Arial Black" panose="020B0A04020102020204" pitchFamily="34" charset="0"/>
              </a:rPr>
              <a:t>Delphi em alta velocidade: Como acelerar seu compilador</a:t>
            </a:r>
          </a:p>
        </p:txBody>
      </p:sp>
      <p:sp>
        <p:nvSpPr>
          <p:cNvPr id="3" name="Subtítulo 4">
            <a:extLst>
              <a:ext uri="{FF2B5EF4-FFF2-40B4-BE49-F238E27FC236}">
                <a16:creationId xmlns:a16="http://schemas.microsoft.com/office/drawing/2014/main" id="{0809C3DB-396E-8A15-BE47-010CC40B3C35}"/>
              </a:ext>
            </a:extLst>
          </p:cNvPr>
          <p:cNvSpPr>
            <a:spLocks noGrp="1"/>
          </p:cNvSpPr>
          <p:nvPr>
            <p:ph type="subTitle" idx="1"/>
          </p:nvPr>
        </p:nvSpPr>
        <p:spPr>
          <a:xfrm>
            <a:off x="1524001" y="3652840"/>
            <a:ext cx="4991099" cy="1464391"/>
          </a:xfrm>
        </p:spPr>
        <p:txBody>
          <a:bodyPr>
            <a:noAutofit/>
          </a:bodyPr>
          <a:lstStyle/>
          <a:p>
            <a:pPr algn="l"/>
            <a:r>
              <a:rPr lang="pt-BR" sz="1600" dirty="0">
                <a:solidFill>
                  <a:schemeClr val="bg1"/>
                </a:solidFill>
                <a:cs typeface="Archivo" pitchFamily="2" charset="0"/>
              </a:rPr>
              <a:t> </a:t>
            </a:r>
          </a:p>
        </p:txBody>
      </p:sp>
      <p:sp>
        <p:nvSpPr>
          <p:cNvPr id="4" name="Subtítulo 4">
            <a:extLst>
              <a:ext uri="{FF2B5EF4-FFF2-40B4-BE49-F238E27FC236}">
                <a16:creationId xmlns:a16="http://schemas.microsoft.com/office/drawing/2014/main" id="{439C259A-112B-F88A-9112-4AE52503292D}"/>
              </a:ext>
            </a:extLst>
          </p:cNvPr>
          <p:cNvSpPr txBox="1">
            <a:spLocks noGrp="1" noRot="1" noMove="1" noResize="1" noEditPoints="1" noAdjustHandles="1" noChangeArrowheads="1" noChangeShapeType="1"/>
          </p:cNvSpPr>
          <p:nvPr/>
        </p:nvSpPr>
        <p:spPr>
          <a:xfrm>
            <a:off x="1524000" y="3038476"/>
            <a:ext cx="2847975" cy="5334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BR" sz="2000" dirty="0">
                <a:solidFill>
                  <a:srgbClr val="C00000"/>
                </a:solidFill>
              </a:rPr>
              <a:t>{ </a:t>
            </a:r>
            <a:r>
              <a:rPr lang="pt-BR" sz="2000" dirty="0">
                <a:solidFill>
                  <a:schemeClr val="bg1"/>
                </a:solidFill>
              </a:rPr>
              <a:t>Vinicius de Abreu</a:t>
            </a:r>
            <a:endParaRPr lang="pt-BR" sz="2000" dirty="0">
              <a:solidFill>
                <a:schemeClr val="bg1"/>
              </a:solidFill>
              <a:cs typeface="Archivo" pitchFamily="2" charset="0"/>
            </a:endParaRPr>
          </a:p>
          <a:p>
            <a:pPr algn="l"/>
            <a:endParaRPr lang="pt-BR"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344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2068945" y="1023801"/>
            <a:ext cx="9568873" cy="903429"/>
          </a:xfrm>
        </p:spPr>
        <p:txBody>
          <a:bodyPr>
            <a:noAutofit/>
          </a:bodyPr>
          <a:lstStyle/>
          <a:p>
            <a:pPr algn="l"/>
            <a:r>
              <a:rPr lang="en-US" sz="2400" b="1" dirty="0">
                <a:solidFill>
                  <a:srgbClr val="000000"/>
                </a:solidFill>
              </a:rPr>
              <a:t>Referência</a:t>
            </a:r>
            <a:endParaRPr lang="pt-BR" sz="7200" dirty="0">
              <a:solidFill>
                <a:schemeClr val="tx1"/>
              </a:solidFill>
              <a:cs typeface="Archivo" pitchFamily="2" charset="0"/>
            </a:endParaRPr>
          </a:p>
        </p:txBody>
      </p:sp>
      <p:sp>
        <p:nvSpPr>
          <p:cNvPr id="10" name="Subtítulo 2">
            <a:extLst>
              <a:ext uri="{FF2B5EF4-FFF2-40B4-BE49-F238E27FC236}">
                <a16:creationId xmlns:a16="http://schemas.microsoft.com/office/drawing/2014/main" id="{A3E0425D-8FC5-B8C7-3225-9C55F414597B}"/>
              </a:ext>
            </a:extLst>
          </p:cNvPr>
          <p:cNvSpPr txBox="1">
            <a:spLocks noGrp="1"/>
          </p:cNvSpPr>
          <p:nvPr>
            <p:ph type="subTitle" idx="1"/>
          </p:nvPr>
        </p:nvSpPr>
        <p:spPr>
          <a:xfrm>
            <a:off x="2068945" y="2147888"/>
            <a:ext cx="9485745" cy="13573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dirty="0">
                <a:solidFill>
                  <a:schemeClr val="tx1"/>
                </a:solidFill>
                <a:cs typeface="Archivo" pitchFamily="2" charset="0"/>
              </a:rPr>
              <a:t>Esta apresentação é baseada no artigo publicado por Marco Cantú, complementado por dicas provenientes da minha experiência e estudos.</a:t>
            </a:r>
          </a:p>
          <a:p>
            <a:pPr algn="l">
              <a:lnSpc>
                <a:spcPct val="120000"/>
              </a:lnSpc>
              <a:spcBef>
                <a:spcPts val="600"/>
              </a:spcBef>
            </a:pPr>
            <a:endParaRPr lang="pt-BR" sz="1400" dirty="0">
              <a:solidFill>
                <a:schemeClr val="tx1"/>
              </a:solidFill>
              <a:cs typeface="Archivo" pitchFamily="2" charset="0"/>
            </a:endParaRPr>
          </a:p>
          <a:p>
            <a:pPr algn="l">
              <a:lnSpc>
                <a:spcPct val="120000"/>
              </a:lnSpc>
              <a:spcBef>
                <a:spcPts val="600"/>
              </a:spcBef>
            </a:pPr>
            <a:r>
              <a:rPr lang="en-US" sz="1100" b="1" i="0" u="sng" dirty="0">
                <a:solidFill>
                  <a:srgbClr val="000000"/>
                </a:solidFill>
                <a:effectLst/>
                <a:latin typeface="Open Sans" panose="020B0606030504020204" pitchFamily="34" charset="0"/>
                <a:hlinkClick r:id="rId4"/>
              </a:rPr>
              <a:t>Some Suggestions to Help the Delphi Compiler</a:t>
            </a:r>
            <a:endParaRPr lang="en-US" sz="1100" b="1" i="0" dirty="0">
              <a:solidFill>
                <a:srgbClr val="404040"/>
              </a:solidFill>
              <a:effectLst/>
              <a:latin typeface="Open Sans" panose="020B0606030504020204" pitchFamily="34" charset="0"/>
            </a:endParaRPr>
          </a:p>
          <a:p>
            <a:pPr algn="l">
              <a:lnSpc>
                <a:spcPct val="120000"/>
              </a:lnSpc>
              <a:spcBef>
                <a:spcPts val="600"/>
              </a:spcBef>
            </a:pPr>
            <a:endParaRPr lang="pt-BR" sz="1400" dirty="0">
              <a:solidFill>
                <a:schemeClr val="tx1"/>
              </a:solidFill>
              <a:cs typeface="Archivo" pitchFamily="2" charset="0"/>
            </a:endParaRPr>
          </a:p>
        </p:txBody>
      </p:sp>
    </p:spTree>
    <p:extLst>
      <p:ext uri="{BB962C8B-B14F-4D97-AF65-F5344CB8AC3E}">
        <p14:creationId xmlns:p14="http://schemas.microsoft.com/office/powerpoint/2010/main" val="389792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2068945" y="1023801"/>
            <a:ext cx="9568873" cy="903429"/>
          </a:xfrm>
        </p:spPr>
        <p:txBody>
          <a:bodyPr>
            <a:noAutofit/>
          </a:bodyPr>
          <a:lstStyle/>
          <a:p>
            <a:pPr algn="l"/>
            <a:r>
              <a:rPr lang="en-US" sz="2400" b="1" dirty="0" err="1">
                <a:solidFill>
                  <a:srgbClr val="000000"/>
                </a:solidFill>
                <a:cs typeface="Archivo" pitchFamily="2" charset="0"/>
              </a:rPr>
              <a:t>Beneficios</a:t>
            </a:r>
            <a:r>
              <a:rPr lang="en-US" sz="2400" b="1" dirty="0">
                <a:solidFill>
                  <a:srgbClr val="000000"/>
                </a:solidFill>
                <a:cs typeface="Archivo" pitchFamily="2" charset="0"/>
              </a:rPr>
              <a:t> </a:t>
            </a:r>
            <a:r>
              <a:rPr lang="en-US" sz="2400" b="1" dirty="0" err="1">
                <a:solidFill>
                  <a:srgbClr val="000000"/>
                </a:solidFill>
                <a:cs typeface="Archivo" pitchFamily="2" charset="0"/>
              </a:rPr>
              <a:t>ao</a:t>
            </a:r>
            <a:r>
              <a:rPr lang="en-US" sz="2400" b="1" dirty="0">
                <a:solidFill>
                  <a:srgbClr val="000000"/>
                </a:solidFill>
                <a:cs typeface="Archivo" pitchFamily="2" charset="0"/>
              </a:rPr>
              <a:t> </a:t>
            </a:r>
            <a:r>
              <a:rPr lang="en-US" sz="2400" b="1" dirty="0" err="1">
                <a:solidFill>
                  <a:srgbClr val="000000"/>
                </a:solidFill>
                <a:cs typeface="Archivo" pitchFamily="2" charset="0"/>
              </a:rPr>
              <a:t>aplicar</a:t>
            </a:r>
            <a:r>
              <a:rPr lang="en-US" sz="2400" b="1" dirty="0">
                <a:solidFill>
                  <a:srgbClr val="000000"/>
                </a:solidFill>
                <a:cs typeface="Archivo" pitchFamily="2" charset="0"/>
              </a:rPr>
              <a:t> </a:t>
            </a:r>
            <a:r>
              <a:rPr lang="en-US" sz="2400" b="1" dirty="0" err="1">
                <a:solidFill>
                  <a:srgbClr val="000000"/>
                </a:solidFill>
                <a:cs typeface="Archivo" pitchFamily="2" charset="0"/>
              </a:rPr>
              <a:t>essas</a:t>
            </a:r>
            <a:r>
              <a:rPr lang="en-US" sz="2400" b="1" dirty="0">
                <a:solidFill>
                  <a:srgbClr val="000000"/>
                </a:solidFill>
                <a:cs typeface="Archivo" pitchFamily="2" charset="0"/>
              </a:rPr>
              <a:t> </a:t>
            </a:r>
            <a:r>
              <a:rPr lang="en-US" sz="2400" b="1" dirty="0" err="1">
                <a:solidFill>
                  <a:srgbClr val="000000"/>
                </a:solidFill>
                <a:cs typeface="Archivo" pitchFamily="2" charset="0"/>
              </a:rPr>
              <a:t>dicas</a:t>
            </a:r>
            <a:endParaRPr lang="pt-BR" sz="7200" dirty="0">
              <a:solidFill>
                <a:schemeClr val="tx1"/>
              </a:solidFill>
              <a:cs typeface="Archivo" pitchFamily="2" charset="0"/>
            </a:endParaRPr>
          </a:p>
        </p:txBody>
      </p:sp>
      <p:sp>
        <p:nvSpPr>
          <p:cNvPr id="10" name="Subtítulo 2">
            <a:extLst>
              <a:ext uri="{FF2B5EF4-FFF2-40B4-BE49-F238E27FC236}">
                <a16:creationId xmlns:a16="http://schemas.microsoft.com/office/drawing/2014/main" id="{A3E0425D-8FC5-B8C7-3225-9C55F414597B}"/>
              </a:ext>
            </a:extLst>
          </p:cNvPr>
          <p:cNvSpPr txBox="1">
            <a:spLocks noGrp="1"/>
          </p:cNvSpPr>
          <p:nvPr>
            <p:ph type="subTitle" idx="1"/>
          </p:nvPr>
        </p:nvSpPr>
        <p:spPr>
          <a:xfrm>
            <a:off x="2068945" y="2147888"/>
            <a:ext cx="9485745" cy="1357312"/>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20000"/>
              </a:lnSpc>
              <a:spcBef>
                <a:spcPts val="600"/>
              </a:spcBef>
              <a:buFont typeface="Courier New" panose="02070309020205020404" pitchFamily="49" charset="0"/>
              <a:buChar char="o"/>
            </a:pPr>
            <a:r>
              <a:rPr lang="pt-BR" sz="1400" dirty="0">
                <a:solidFill>
                  <a:schemeClr val="tx1"/>
                </a:solidFill>
                <a:cs typeface="Archivo" pitchFamily="2" charset="0"/>
              </a:rPr>
              <a:t>Tempo</a:t>
            </a:r>
          </a:p>
          <a:p>
            <a:pPr marL="285750" indent="-285750" algn="l">
              <a:lnSpc>
                <a:spcPct val="120000"/>
              </a:lnSpc>
              <a:spcBef>
                <a:spcPts val="600"/>
              </a:spcBef>
              <a:buFont typeface="Courier New" panose="02070309020205020404" pitchFamily="49" charset="0"/>
              <a:buChar char="o"/>
            </a:pPr>
            <a:r>
              <a:rPr lang="pt-BR" sz="1400" dirty="0">
                <a:solidFill>
                  <a:schemeClr val="tx1"/>
                </a:solidFill>
                <a:cs typeface="Archivo" pitchFamily="2" charset="0"/>
              </a:rPr>
              <a:t>Executável menor</a:t>
            </a:r>
          </a:p>
          <a:p>
            <a:pPr marL="285750" indent="-285750" algn="l">
              <a:lnSpc>
                <a:spcPct val="120000"/>
              </a:lnSpc>
              <a:spcBef>
                <a:spcPts val="600"/>
              </a:spcBef>
              <a:buFont typeface="Courier New" panose="02070309020205020404" pitchFamily="49" charset="0"/>
              <a:buChar char="o"/>
            </a:pPr>
            <a:r>
              <a:rPr lang="pt-BR" sz="1400" dirty="0">
                <a:solidFill>
                  <a:schemeClr val="tx1"/>
                </a:solidFill>
                <a:cs typeface="Archivo" pitchFamily="2" charset="0"/>
              </a:rPr>
              <a:t>Projeto Legível</a:t>
            </a:r>
          </a:p>
          <a:p>
            <a:pPr marL="285750" indent="-285750" algn="l">
              <a:lnSpc>
                <a:spcPct val="120000"/>
              </a:lnSpc>
              <a:spcBef>
                <a:spcPts val="600"/>
              </a:spcBef>
              <a:buFont typeface="Courier New" panose="02070309020205020404" pitchFamily="49" charset="0"/>
              <a:buChar char="o"/>
            </a:pPr>
            <a:r>
              <a:rPr lang="pt-BR" sz="1400" dirty="0">
                <a:solidFill>
                  <a:schemeClr val="tx1"/>
                </a:solidFill>
                <a:cs typeface="Archivo" pitchFamily="2" charset="0"/>
              </a:rPr>
              <a:t>Projeto Limpo</a:t>
            </a:r>
          </a:p>
          <a:p>
            <a:pPr marL="285750" indent="-285750" algn="l">
              <a:lnSpc>
                <a:spcPct val="120000"/>
              </a:lnSpc>
              <a:spcBef>
                <a:spcPts val="600"/>
              </a:spcBef>
              <a:buFont typeface="Courier New" panose="02070309020205020404" pitchFamily="49" charset="0"/>
              <a:buChar char="o"/>
            </a:pPr>
            <a:r>
              <a:rPr lang="pt-BR" sz="1400" dirty="0" err="1">
                <a:solidFill>
                  <a:schemeClr val="tx1"/>
                </a:solidFill>
                <a:cs typeface="Archivo" pitchFamily="2" charset="0"/>
              </a:rPr>
              <a:t>CodeInsght</a:t>
            </a:r>
            <a:r>
              <a:rPr lang="pt-BR" sz="1400" dirty="0">
                <a:solidFill>
                  <a:schemeClr val="tx1"/>
                </a:solidFill>
                <a:cs typeface="Archivo" pitchFamily="2" charset="0"/>
              </a:rPr>
              <a:t> </a:t>
            </a:r>
            <a:r>
              <a:rPr lang="pt-BR" sz="1400">
                <a:solidFill>
                  <a:schemeClr val="tx1"/>
                </a:solidFill>
                <a:cs typeface="Archivo" pitchFamily="2" charset="0"/>
              </a:rPr>
              <a:t>mais rápido</a:t>
            </a:r>
            <a:endParaRPr lang="pt-BR" sz="1400" dirty="0">
              <a:solidFill>
                <a:schemeClr val="tx1"/>
              </a:solidFill>
              <a:cs typeface="Archivo" pitchFamily="2" charset="0"/>
            </a:endParaRPr>
          </a:p>
          <a:p>
            <a:pPr marL="285750" indent="-285750" algn="l">
              <a:lnSpc>
                <a:spcPct val="120000"/>
              </a:lnSpc>
              <a:spcBef>
                <a:spcPts val="600"/>
              </a:spcBef>
              <a:buFont typeface="Arial" panose="020B0604020202020204" pitchFamily="34" charset="0"/>
              <a:buChar char="•"/>
            </a:pPr>
            <a:endParaRPr lang="pt-BR" sz="1400" dirty="0">
              <a:solidFill>
                <a:schemeClr val="tx1"/>
              </a:solidFill>
              <a:cs typeface="Archivo" pitchFamily="2" charset="0"/>
            </a:endParaRPr>
          </a:p>
          <a:p>
            <a:pPr marL="285750" indent="-285750" algn="l">
              <a:lnSpc>
                <a:spcPct val="120000"/>
              </a:lnSpc>
              <a:spcBef>
                <a:spcPts val="600"/>
              </a:spcBef>
              <a:buFont typeface="Arial" panose="020B0604020202020204" pitchFamily="34" charset="0"/>
              <a:buChar char="•"/>
            </a:pPr>
            <a:endParaRPr lang="pt-BR" sz="1400" dirty="0">
              <a:solidFill>
                <a:schemeClr val="tx1"/>
              </a:solidFill>
              <a:cs typeface="Archivo" pitchFamily="2" charset="0"/>
            </a:endParaRPr>
          </a:p>
        </p:txBody>
      </p:sp>
    </p:spTree>
    <p:extLst>
      <p:ext uri="{BB962C8B-B14F-4D97-AF65-F5344CB8AC3E}">
        <p14:creationId xmlns:p14="http://schemas.microsoft.com/office/powerpoint/2010/main" val="1704084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rPr>
              <a:t>Entendendo o processo de compilação</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rgbClr val="000000"/>
                </a:solidFill>
              </a:rPr>
              <a:t>Análise Léxica: O compilador lê o código-fonte e converte os caracteres em tokens, que são as menores unidades significativas, como palavras-chave, identificadores e operadores.</a:t>
            </a:r>
          </a:p>
          <a:p>
            <a:pPr algn="just">
              <a:lnSpc>
                <a:spcPct val="120000"/>
              </a:lnSpc>
              <a:spcBef>
                <a:spcPts val="600"/>
              </a:spcBef>
            </a:pPr>
            <a:r>
              <a:rPr lang="pt-BR" sz="1400" dirty="0">
                <a:solidFill>
                  <a:srgbClr val="000000"/>
                </a:solidFill>
              </a:rPr>
              <a:t>Análise Sintática: Os tokens são organizados em uma estrutura hierárquica, verificando se a sintaxe do código está correta de acordo com as regras da linguagem Delphi.</a:t>
            </a:r>
          </a:p>
          <a:p>
            <a:pPr algn="just">
              <a:lnSpc>
                <a:spcPct val="120000"/>
              </a:lnSpc>
              <a:spcBef>
                <a:spcPts val="600"/>
              </a:spcBef>
            </a:pPr>
            <a:r>
              <a:rPr lang="pt-BR" sz="1400" dirty="0">
                <a:solidFill>
                  <a:srgbClr val="000000"/>
                </a:solidFill>
              </a:rPr>
              <a:t>Análise Semântica: O compilador verifica a semântica do código, garantindo que as operações e declarações façam sentido lógico. Isso inclui verificação de tipos, escopo de variáveis e coerência de operações.</a:t>
            </a:r>
          </a:p>
          <a:p>
            <a:pPr algn="just">
              <a:lnSpc>
                <a:spcPct val="120000"/>
              </a:lnSpc>
              <a:spcBef>
                <a:spcPts val="600"/>
              </a:spcBef>
            </a:pPr>
            <a:r>
              <a:rPr lang="pt-BR" sz="1400" dirty="0">
                <a:solidFill>
                  <a:srgbClr val="000000"/>
                </a:solidFill>
              </a:rPr>
              <a:t>Geração de Código Intermediário: O código é traduzido para uma representação intermediária que é mais fácil de otimizar e transformar em código de máquina.</a:t>
            </a:r>
          </a:p>
          <a:p>
            <a:pPr algn="just">
              <a:lnSpc>
                <a:spcPct val="120000"/>
              </a:lnSpc>
              <a:spcBef>
                <a:spcPts val="600"/>
              </a:spcBef>
            </a:pPr>
            <a:r>
              <a:rPr lang="pt-BR" sz="1400" dirty="0">
                <a:solidFill>
                  <a:srgbClr val="000000"/>
                </a:solidFill>
              </a:rPr>
              <a:t>Otimização de Código: O código intermediário é otimizado para melhorar a eficiência e desempenho do programa final. Isso pode incluir a eliminação de código redundante e a melhoria de loops.</a:t>
            </a:r>
          </a:p>
          <a:p>
            <a:pPr algn="just">
              <a:lnSpc>
                <a:spcPct val="120000"/>
              </a:lnSpc>
              <a:spcBef>
                <a:spcPts val="600"/>
              </a:spcBef>
            </a:pPr>
            <a:r>
              <a:rPr lang="pt-BR" sz="1400" dirty="0">
                <a:solidFill>
                  <a:srgbClr val="000000"/>
                </a:solidFill>
              </a:rPr>
              <a:t>Geração de Código: O código intermediário otimizado é convertido em código de máquina específico para a arquitetura de destino.</a:t>
            </a:r>
            <a:endParaRPr lang="pt-BR" sz="1400" dirty="0">
              <a:solidFill>
                <a:schemeClr val="tx1"/>
              </a:solidFill>
              <a:cs typeface="Archivo" pitchFamily="2" charset="0"/>
            </a:endParaRPr>
          </a:p>
        </p:txBody>
      </p:sp>
      <p:pic>
        <p:nvPicPr>
          <p:cNvPr id="2" name="Imagem 1">
            <a:extLst>
              <a:ext uri="{FF2B5EF4-FFF2-40B4-BE49-F238E27FC236}">
                <a16:creationId xmlns:a16="http://schemas.microsoft.com/office/drawing/2014/main" id="{8780B4C4-2B00-1311-0A7A-036D91040E55}"/>
              </a:ext>
            </a:extLst>
          </p:cNvPr>
          <p:cNvPicPr>
            <a:picLocks noChangeAspect="1"/>
          </p:cNvPicPr>
          <p:nvPr/>
        </p:nvPicPr>
        <p:blipFill>
          <a:blip r:embed="rId4"/>
          <a:stretch>
            <a:fillRect/>
          </a:stretch>
        </p:blipFill>
        <p:spPr>
          <a:xfrm>
            <a:off x="6488114" y="348251"/>
            <a:ext cx="5370808" cy="6161496"/>
          </a:xfrm>
          <a:prstGeom prst="rect">
            <a:avLst/>
          </a:prstGeom>
          <a:ln>
            <a:noFill/>
          </a:ln>
          <a:effectLst>
            <a:softEdge rad="0"/>
          </a:effectLst>
        </p:spPr>
      </p:pic>
    </p:spTree>
    <p:extLst>
      <p:ext uri="{BB962C8B-B14F-4D97-AF65-F5344CB8AC3E}">
        <p14:creationId xmlns:p14="http://schemas.microsoft.com/office/powerpoint/2010/main" val="378642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solidFill>
              </a:rPr>
              <a:t>Inserir imagem aqui</a:t>
            </a: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err="1">
                <a:solidFill>
                  <a:srgbClr val="000000"/>
                </a:solidFill>
              </a:rPr>
              <a:t>Lorem</a:t>
            </a:r>
            <a:r>
              <a:rPr lang="pt-BR" sz="2400" b="1" dirty="0">
                <a:solidFill>
                  <a:srgbClr val="000000"/>
                </a:solidFill>
              </a:rPr>
              <a:t> ipsum </a:t>
            </a:r>
            <a:r>
              <a:rPr lang="pt-BR" sz="2400" b="1" dirty="0" err="1">
                <a:solidFill>
                  <a:srgbClr val="000000"/>
                </a:solidFill>
              </a:rPr>
              <a:t>dolor</a:t>
            </a:r>
            <a:r>
              <a:rPr lang="pt-BR" sz="2400" b="1" dirty="0">
                <a:solidFill>
                  <a:srgbClr val="000000"/>
                </a:solidFill>
              </a:rPr>
              <a:t> </a:t>
            </a:r>
            <a:r>
              <a:rPr lang="pt-BR" sz="2400" b="1" dirty="0" err="1">
                <a:solidFill>
                  <a:srgbClr val="000000"/>
                </a:solidFill>
              </a:rPr>
              <a:t>sit</a:t>
            </a:r>
            <a:r>
              <a:rPr lang="pt-BR" sz="2400" b="1" dirty="0">
                <a:solidFill>
                  <a:srgbClr val="000000"/>
                </a:solidFill>
              </a:rPr>
              <a:t> </a:t>
            </a:r>
            <a:r>
              <a:rPr lang="pt-BR" sz="2400" b="1" dirty="0" err="1">
                <a:solidFill>
                  <a:srgbClr val="000000"/>
                </a:solidFill>
              </a:rPr>
              <a:t>amet</a:t>
            </a:r>
            <a:r>
              <a:rPr lang="pt-BR" sz="2400" b="1" dirty="0">
                <a:solidFill>
                  <a:srgbClr val="000000"/>
                </a:solidFill>
              </a:rPr>
              <a:t>, </a:t>
            </a:r>
            <a:r>
              <a:rPr lang="pt-BR" sz="2400" b="1" dirty="0" err="1">
                <a:solidFill>
                  <a:srgbClr val="000000"/>
                </a:solidFill>
              </a:rPr>
              <a:t>consectetur</a:t>
            </a:r>
            <a:r>
              <a:rPr lang="pt-BR" sz="2400" b="1" dirty="0">
                <a:solidFill>
                  <a:srgbClr val="000000"/>
                </a:solidFill>
              </a:rPr>
              <a:t> </a:t>
            </a:r>
            <a:r>
              <a:rPr lang="pt-BR" sz="2400" b="1" dirty="0" err="1">
                <a:solidFill>
                  <a:srgbClr val="000000"/>
                </a:solidFill>
              </a:rPr>
              <a:t>adipiscing</a:t>
            </a:r>
            <a:r>
              <a:rPr lang="pt-BR" sz="2400" b="1" dirty="0">
                <a:solidFill>
                  <a:srgbClr val="000000"/>
                </a:solidFill>
              </a:rPr>
              <a:t> </a:t>
            </a:r>
            <a:r>
              <a:rPr lang="pt-BR" sz="2400" b="1" dirty="0" err="1">
                <a:solidFill>
                  <a:srgbClr val="000000"/>
                </a:solidFill>
              </a:rPr>
              <a:t>elit</a:t>
            </a:r>
            <a:r>
              <a:rPr lang="pt-BR" sz="2400" b="1" dirty="0">
                <a:solidFill>
                  <a:srgbClr val="000000"/>
                </a:solidFill>
              </a:rPr>
              <a:t>. </a:t>
            </a:r>
            <a:r>
              <a:rPr lang="pt-BR" sz="2400" b="1" dirty="0" err="1">
                <a:solidFill>
                  <a:srgbClr val="000000"/>
                </a:solidFill>
              </a:rPr>
              <a:t>Vestibulum</a:t>
            </a:r>
            <a:r>
              <a:rPr lang="pt-BR" sz="2400" b="1" dirty="0">
                <a:solidFill>
                  <a:srgbClr val="000000"/>
                </a:solidFill>
              </a:rPr>
              <a:t> </a:t>
            </a:r>
            <a:r>
              <a:rPr lang="pt-BR" sz="2400" b="1" dirty="0" err="1">
                <a:solidFill>
                  <a:srgbClr val="000000"/>
                </a:solidFill>
              </a:rPr>
              <a:t>sit</a:t>
            </a:r>
            <a:r>
              <a:rPr lang="pt-BR" sz="2400" b="1" dirty="0">
                <a:solidFill>
                  <a:srgbClr val="000000"/>
                </a:solidFill>
              </a:rPr>
              <a:t> </a:t>
            </a:r>
            <a:r>
              <a:rPr lang="pt-BR" sz="2400" b="1" dirty="0" err="1">
                <a:solidFill>
                  <a:srgbClr val="000000"/>
                </a:solidFill>
              </a:rPr>
              <a:t>amet</a:t>
            </a:r>
            <a:r>
              <a:rPr lang="pt-BR" sz="2400" b="1" dirty="0">
                <a:solidFill>
                  <a:srgbClr val="000000"/>
                </a:solidFill>
              </a:rPr>
              <a:t> </a:t>
            </a:r>
            <a:r>
              <a:rPr lang="pt-BR" sz="2400" b="1" dirty="0" err="1">
                <a:solidFill>
                  <a:srgbClr val="000000"/>
                </a:solidFill>
              </a:rPr>
              <a:t>nul</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8"/>
            <a:ext cx="4978400" cy="13573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a:solidFill>
                  <a:srgbClr val="000000"/>
                </a:solidFill>
              </a:rPr>
              <a:t>Lorem ipsum dolor sit amet, consectetur adipiscing elit. Vestibulum sit amet nulla ac est lacinia gravida vitae sit amet diam. Vestibulum quis tristique nisi. Morbi mattis arcu eget purus porttitor interdum. In id semper mauris. Quisque viverra fermentum pellentesque. Curabitur magna erat, accumsan et tempor et, porta a massa. Nulla lobortis sed eros quis vulputate.</a:t>
            </a:r>
            <a:endParaRPr lang="pt-BR" sz="1400" dirty="0">
              <a:solidFill>
                <a:schemeClr val="tx1"/>
              </a:solidFill>
              <a:cs typeface="Archivo" pitchFamily="2" charset="0"/>
            </a:endParaRPr>
          </a:p>
        </p:txBody>
      </p:sp>
      <p:pic>
        <p:nvPicPr>
          <p:cNvPr id="3" name="Imagem 2">
            <a:extLst>
              <a:ext uri="{FF2B5EF4-FFF2-40B4-BE49-F238E27FC236}">
                <a16:creationId xmlns:a16="http://schemas.microsoft.com/office/drawing/2014/main" id="{9DA25457-E0F9-EE41-8221-AA3B18B7B229}"/>
              </a:ext>
            </a:extLst>
          </p:cNvPr>
          <p:cNvPicPr>
            <a:picLocks noChangeAspect="1"/>
          </p:cNvPicPr>
          <p:nvPr/>
        </p:nvPicPr>
        <p:blipFill>
          <a:blip r:embed="rId3"/>
          <a:stretch>
            <a:fillRect/>
          </a:stretch>
        </p:blipFill>
        <p:spPr>
          <a:xfrm>
            <a:off x="619432" y="348251"/>
            <a:ext cx="11239490" cy="6309973"/>
          </a:xfrm>
          <a:prstGeom prst="rect">
            <a:avLst/>
          </a:prstGeom>
        </p:spPr>
      </p:pic>
    </p:spTree>
    <p:extLst>
      <p:ext uri="{BB962C8B-B14F-4D97-AF65-F5344CB8AC3E}">
        <p14:creationId xmlns:p14="http://schemas.microsoft.com/office/powerpoint/2010/main" val="263211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rPr>
              <a:t>Diretório de pesquisa ou Diretório de biblioteca inválido</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chemeClr val="tx1"/>
                </a:solidFill>
                <a:cs typeface="Archivo" pitchFamily="2" charset="0"/>
              </a:rPr>
              <a:t>O compilador procura por qualquer unidade referenciada no código por instruções uses na pasta do projeto, no caminho de pesquisa do projeto, no caminho da biblioteca e em alguns outros locais. Percebemos que ter pastas inválidas nesses caminhos faz com que o compilador procure repetidamente nesses locais, uma operação que é muito mais lenta, no nível do sistema operacional, para caminhos não existentes.</a:t>
            </a:r>
          </a:p>
          <a:p>
            <a:pPr algn="l">
              <a:lnSpc>
                <a:spcPct val="120000"/>
              </a:lnSpc>
              <a:spcBef>
                <a:spcPts val="600"/>
              </a:spcBef>
            </a:pPr>
            <a:endParaRPr lang="pt-BR" sz="1400" dirty="0">
              <a:solidFill>
                <a:schemeClr val="tx1"/>
              </a:solidFill>
              <a:cs typeface="Archivo" pitchFamily="2" charset="0"/>
            </a:endParaRPr>
          </a:p>
          <a:p>
            <a:pPr algn="l">
              <a:lnSpc>
                <a:spcPct val="120000"/>
              </a:lnSpc>
              <a:spcBef>
                <a:spcPts val="600"/>
              </a:spcBef>
            </a:pPr>
            <a:r>
              <a:rPr lang="pt-BR" sz="1400" dirty="0">
                <a:solidFill>
                  <a:schemeClr val="tx1"/>
                </a:solidFill>
                <a:cs typeface="Archivo" pitchFamily="2" charset="0"/>
              </a:rPr>
              <a:t>Imagem: https://quality.embarcadero.com/browse/RSP-39317</a:t>
            </a:r>
          </a:p>
        </p:txBody>
      </p:sp>
      <p:pic>
        <p:nvPicPr>
          <p:cNvPr id="5" name="Imagem 4">
            <a:extLst>
              <a:ext uri="{FF2B5EF4-FFF2-40B4-BE49-F238E27FC236}">
                <a16:creationId xmlns:a16="http://schemas.microsoft.com/office/drawing/2014/main" id="{796905BA-BD19-B427-FBAF-D24BB6D82AB5}"/>
              </a:ext>
            </a:extLst>
          </p:cNvPr>
          <p:cNvPicPr>
            <a:picLocks noChangeAspect="1"/>
          </p:cNvPicPr>
          <p:nvPr/>
        </p:nvPicPr>
        <p:blipFill>
          <a:blip r:embed="rId4"/>
          <a:stretch>
            <a:fillRect/>
          </a:stretch>
        </p:blipFill>
        <p:spPr>
          <a:xfrm>
            <a:off x="6096000" y="348250"/>
            <a:ext cx="5760935" cy="6161497"/>
          </a:xfrm>
          <a:prstGeom prst="rect">
            <a:avLst/>
          </a:prstGeom>
        </p:spPr>
      </p:pic>
    </p:spTree>
    <p:extLst>
      <p:ext uri="{BB962C8B-B14F-4D97-AF65-F5344CB8AC3E}">
        <p14:creationId xmlns:p14="http://schemas.microsoft.com/office/powerpoint/2010/main" val="429350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cs typeface="Archivo" pitchFamily="2" charset="0"/>
              </a:rPr>
              <a:t>Unit </a:t>
            </a:r>
            <a:r>
              <a:rPr lang="pt-BR" sz="2400" b="1" dirty="0" err="1">
                <a:solidFill>
                  <a:srgbClr val="000000"/>
                </a:solidFill>
                <a:cs typeface="Archivo" pitchFamily="2" charset="0"/>
              </a:rPr>
              <a:t>Aliases</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err="1">
                <a:solidFill>
                  <a:schemeClr val="tx1"/>
                </a:solidFill>
                <a:cs typeface="Archivo" pitchFamily="2" charset="0"/>
              </a:rPr>
              <a:t>Aliases</a:t>
            </a:r>
            <a:r>
              <a:rPr lang="pt-BR" sz="1400" dirty="0">
                <a:solidFill>
                  <a:schemeClr val="tx1"/>
                </a:solidFill>
                <a:cs typeface="Archivo" pitchFamily="2" charset="0"/>
              </a:rPr>
              <a:t> de unidade oferecem a opção de mapear um nome de unidade em uma declaração uses para um nome de unidade real diferente. Isso pode ser útil ao migrar código antigo e foi usado pelo Delphi ao longo dos anos, quando algumas das unidades principais foram mescladas ou renomeadas.</a:t>
            </a:r>
          </a:p>
          <a:p>
            <a:pPr algn="just">
              <a:lnSpc>
                <a:spcPct val="120000"/>
              </a:lnSpc>
              <a:spcBef>
                <a:spcPts val="600"/>
              </a:spcBef>
            </a:pPr>
            <a:r>
              <a:rPr lang="pt-BR" sz="1400" dirty="0">
                <a:solidFill>
                  <a:schemeClr val="tx1"/>
                </a:solidFill>
                <a:cs typeface="Archivo" pitchFamily="2" charset="0"/>
              </a:rPr>
              <a:t>Por exemplo, em algumas versões iniciais do Delphi você encontraria os seguintes </a:t>
            </a:r>
            <a:r>
              <a:rPr lang="pt-BR" sz="1400" dirty="0" err="1">
                <a:solidFill>
                  <a:schemeClr val="tx1"/>
                </a:solidFill>
                <a:cs typeface="Archivo" pitchFamily="2" charset="0"/>
              </a:rPr>
              <a:t>aliases</a:t>
            </a:r>
            <a:r>
              <a:rPr lang="pt-BR" sz="1400" dirty="0">
                <a:solidFill>
                  <a:schemeClr val="tx1"/>
                </a:solidFill>
                <a:cs typeface="Archivo" pitchFamily="2" charset="0"/>
              </a:rPr>
              <a:t> de unidade:</a:t>
            </a:r>
          </a:p>
          <a:p>
            <a:pPr algn="just">
              <a:lnSpc>
                <a:spcPct val="120000"/>
              </a:lnSpc>
              <a:spcBef>
                <a:spcPts val="600"/>
              </a:spcBef>
            </a:pPr>
            <a:endParaRPr lang="pt-BR" sz="1400" dirty="0">
              <a:solidFill>
                <a:schemeClr val="tx1"/>
              </a:solidFill>
              <a:cs typeface="Archivo" pitchFamily="2" charset="0"/>
            </a:endParaRPr>
          </a:p>
          <a:p>
            <a:pPr algn="just">
              <a:lnSpc>
                <a:spcPct val="120000"/>
              </a:lnSpc>
              <a:spcBef>
                <a:spcPts val="600"/>
              </a:spcBef>
            </a:pPr>
            <a:r>
              <a:rPr lang="pt-BR" sz="1400" dirty="0" err="1">
                <a:solidFill>
                  <a:schemeClr val="tx1"/>
                </a:solidFill>
                <a:cs typeface="Archivo" pitchFamily="2" charset="0"/>
              </a:rPr>
              <a:t>WinTypes</a:t>
            </a:r>
            <a:r>
              <a:rPr lang="pt-BR" sz="1400" dirty="0">
                <a:solidFill>
                  <a:schemeClr val="tx1"/>
                </a:solidFill>
                <a:cs typeface="Archivo" pitchFamily="2" charset="0"/>
              </a:rPr>
              <a:t>=</a:t>
            </a:r>
            <a:r>
              <a:rPr lang="pt-BR" sz="1400" dirty="0" err="1">
                <a:solidFill>
                  <a:schemeClr val="tx1"/>
                </a:solidFill>
                <a:cs typeface="Archivo" pitchFamily="2" charset="0"/>
              </a:rPr>
              <a:t>Windows;WinProcs</a:t>
            </a:r>
            <a:r>
              <a:rPr lang="pt-BR" sz="1400" dirty="0">
                <a:solidFill>
                  <a:schemeClr val="tx1"/>
                </a:solidFill>
                <a:cs typeface="Archivo" pitchFamily="2" charset="0"/>
              </a:rPr>
              <a:t>=</a:t>
            </a:r>
            <a:r>
              <a:rPr lang="pt-BR" sz="1400" dirty="0" err="1">
                <a:solidFill>
                  <a:schemeClr val="tx1"/>
                </a:solidFill>
                <a:cs typeface="Archivo" pitchFamily="2" charset="0"/>
              </a:rPr>
              <a:t>Windows;DbiProcs</a:t>
            </a:r>
            <a:r>
              <a:rPr lang="pt-BR" sz="1400" dirty="0">
                <a:solidFill>
                  <a:schemeClr val="tx1"/>
                </a:solidFill>
                <a:cs typeface="Archivo" pitchFamily="2" charset="0"/>
              </a:rPr>
              <a:t>=</a:t>
            </a:r>
            <a:r>
              <a:rPr lang="pt-BR" sz="1400" dirty="0" err="1">
                <a:solidFill>
                  <a:schemeClr val="tx1"/>
                </a:solidFill>
                <a:cs typeface="Archivo" pitchFamily="2" charset="0"/>
              </a:rPr>
              <a:t>BDE;DbiTypes</a:t>
            </a:r>
            <a:r>
              <a:rPr lang="pt-BR" sz="1400" dirty="0">
                <a:solidFill>
                  <a:schemeClr val="tx1"/>
                </a:solidFill>
                <a:cs typeface="Archivo" pitchFamily="2" charset="0"/>
              </a:rPr>
              <a:t>=</a:t>
            </a:r>
            <a:r>
              <a:rPr lang="pt-BR" sz="1400" dirty="0" err="1">
                <a:solidFill>
                  <a:schemeClr val="tx1"/>
                </a:solidFill>
                <a:cs typeface="Archivo" pitchFamily="2" charset="0"/>
              </a:rPr>
              <a:t>BDE;DbiErrs</a:t>
            </a:r>
            <a:r>
              <a:rPr lang="pt-BR" sz="1400" dirty="0">
                <a:solidFill>
                  <a:schemeClr val="tx1"/>
                </a:solidFill>
                <a:cs typeface="Archivo" pitchFamily="2" charset="0"/>
              </a:rPr>
              <a:t>=BDE</a:t>
            </a:r>
          </a:p>
          <a:p>
            <a:pPr algn="just">
              <a:lnSpc>
                <a:spcPct val="120000"/>
              </a:lnSpc>
              <a:spcBef>
                <a:spcPts val="600"/>
              </a:spcBef>
            </a:pPr>
            <a:endParaRPr lang="pt-BR" sz="1400" dirty="0">
              <a:solidFill>
                <a:schemeClr val="tx1"/>
              </a:solidFill>
              <a:cs typeface="Archivo" pitchFamily="2" charset="0"/>
            </a:endParaRPr>
          </a:p>
          <a:p>
            <a:pPr algn="just">
              <a:lnSpc>
                <a:spcPct val="120000"/>
              </a:lnSpc>
              <a:spcBef>
                <a:spcPts val="600"/>
              </a:spcBef>
            </a:pPr>
            <a:r>
              <a:rPr lang="pt-BR" sz="1400" dirty="0">
                <a:solidFill>
                  <a:schemeClr val="tx1"/>
                </a:solidFill>
                <a:cs typeface="Archivo" pitchFamily="2" charset="0"/>
              </a:rPr>
              <a:t>A recomendação é removê-los (possivelmente um por um) e atualizar o código-fonte dos seus projetos com referências às unidades corretas.</a:t>
            </a:r>
          </a:p>
          <a:p>
            <a:pPr algn="just">
              <a:lnSpc>
                <a:spcPct val="120000"/>
              </a:lnSpc>
              <a:spcBef>
                <a:spcPts val="600"/>
              </a:spcBef>
            </a:pPr>
            <a:r>
              <a:rPr lang="pt-BR" sz="1400" dirty="0">
                <a:solidFill>
                  <a:schemeClr val="tx1"/>
                </a:solidFill>
                <a:cs typeface="Archivo" pitchFamily="2" charset="0"/>
              </a:rPr>
              <a:t>Um grande uso de </a:t>
            </a:r>
            <a:r>
              <a:rPr lang="pt-BR" sz="1400" dirty="0" err="1">
                <a:solidFill>
                  <a:schemeClr val="tx1"/>
                </a:solidFill>
                <a:cs typeface="Archivo" pitchFamily="2" charset="0"/>
              </a:rPr>
              <a:t>aliases</a:t>
            </a:r>
            <a:r>
              <a:rPr lang="pt-BR" sz="1400" dirty="0">
                <a:solidFill>
                  <a:schemeClr val="tx1"/>
                </a:solidFill>
                <a:cs typeface="Archivo" pitchFamily="2" charset="0"/>
              </a:rPr>
              <a:t> de unidade adiciona algum trabalho extra ao compilador. Embora, até onde sabemos, isso cause apenas uma pequena sobrecarga extra, ainda é um pouco de tempo extra e o esforço também ajuda a manter seu código mais limpo e legível.</a:t>
            </a:r>
          </a:p>
        </p:txBody>
      </p:sp>
      <p:pic>
        <p:nvPicPr>
          <p:cNvPr id="2053" name="Picture 5">
            <a:extLst>
              <a:ext uri="{FF2B5EF4-FFF2-40B4-BE49-F238E27FC236}">
                <a16:creationId xmlns:a16="http://schemas.microsoft.com/office/drawing/2014/main" id="{F929C1CA-37D2-9B78-88BC-2975029BFF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7280" y="348251"/>
            <a:ext cx="6071642" cy="616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040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cs typeface="Archivo" pitchFamily="2" charset="0"/>
              </a:rPr>
              <a:t>Desabilitar visualização do progresso de compilação</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dirty="0">
                <a:solidFill>
                  <a:schemeClr val="tx1"/>
                </a:solidFill>
                <a:cs typeface="Archivo" pitchFamily="2" charset="0"/>
              </a:rPr>
              <a:t>Pode diminuir o tempo de compilação em até 30%</a:t>
            </a:r>
          </a:p>
        </p:txBody>
      </p:sp>
      <p:pic>
        <p:nvPicPr>
          <p:cNvPr id="3" name="Imagem 2">
            <a:extLst>
              <a:ext uri="{FF2B5EF4-FFF2-40B4-BE49-F238E27FC236}">
                <a16:creationId xmlns:a16="http://schemas.microsoft.com/office/drawing/2014/main" id="{2747A5E5-F1CC-463C-5949-535D02FB5C34}"/>
              </a:ext>
            </a:extLst>
          </p:cNvPr>
          <p:cNvPicPr>
            <a:picLocks noChangeAspect="1"/>
          </p:cNvPicPr>
          <p:nvPr/>
        </p:nvPicPr>
        <p:blipFill>
          <a:blip r:embed="rId4"/>
          <a:stretch>
            <a:fillRect/>
          </a:stretch>
        </p:blipFill>
        <p:spPr>
          <a:xfrm>
            <a:off x="6096000" y="348251"/>
            <a:ext cx="5762923" cy="6161497"/>
          </a:xfrm>
          <a:prstGeom prst="rect">
            <a:avLst/>
          </a:prstGeom>
        </p:spPr>
      </p:pic>
    </p:spTree>
    <p:extLst>
      <p:ext uri="{BB962C8B-B14F-4D97-AF65-F5344CB8AC3E}">
        <p14:creationId xmlns:p14="http://schemas.microsoft.com/office/powerpoint/2010/main" val="55901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2068945" y="1023801"/>
            <a:ext cx="9568873" cy="903429"/>
          </a:xfrm>
        </p:spPr>
        <p:txBody>
          <a:bodyPr>
            <a:noAutofit/>
          </a:bodyPr>
          <a:lstStyle/>
          <a:p>
            <a:pPr algn="l"/>
            <a:r>
              <a:rPr lang="en-US" sz="2400" b="1" dirty="0">
                <a:solidFill>
                  <a:srgbClr val="000000"/>
                </a:solidFill>
              </a:rPr>
              <a:t>Units desnecessárias</a:t>
            </a:r>
            <a:endParaRPr lang="pt-BR" sz="7200" dirty="0">
              <a:solidFill>
                <a:schemeClr val="tx1"/>
              </a:solidFill>
              <a:cs typeface="Archivo" pitchFamily="2" charset="0"/>
            </a:endParaRPr>
          </a:p>
        </p:txBody>
      </p:sp>
      <p:sp>
        <p:nvSpPr>
          <p:cNvPr id="10" name="Subtítulo 2">
            <a:extLst>
              <a:ext uri="{FF2B5EF4-FFF2-40B4-BE49-F238E27FC236}">
                <a16:creationId xmlns:a16="http://schemas.microsoft.com/office/drawing/2014/main" id="{A3E0425D-8FC5-B8C7-3225-9C55F414597B}"/>
              </a:ext>
            </a:extLst>
          </p:cNvPr>
          <p:cNvSpPr txBox="1">
            <a:spLocks noGrp="1"/>
          </p:cNvSpPr>
          <p:nvPr>
            <p:ph type="subTitle" idx="1"/>
          </p:nvPr>
        </p:nvSpPr>
        <p:spPr>
          <a:xfrm>
            <a:off x="2068945" y="2147888"/>
            <a:ext cx="9485745" cy="13573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dirty="0">
                <a:solidFill>
                  <a:schemeClr val="tx1"/>
                </a:solidFill>
                <a:cs typeface="Archivo" pitchFamily="2" charset="0"/>
              </a:rPr>
              <a:t>As unit declaradas mas não usadas referem-se a unidades que são incluídas na cláusula uses de um programa ou módulo, mas que não são realmente utilizadas no código. Isso pode ocorrer por vários motivos, como a inclusão de unidades por padrão ou a remoção de código que anteriormente dependia dessas unidades.</a:t>
            </a:r>
          </a:p>
        </p:txBody>
      </p:sp>
    </p:spTree>
    <p:extLst>
      <p:ext uri="{BB962C8B-B14F-4D97-AF65-F5344CB8AC3E}">
        <p14:creationId xmlns:p14="http://schemas.microsoft.com/office/powerpoint/2010/main" val="3563204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2068945" y="1023801"/>
            <a:ext cx="9568873" cy="903429"/>
          </a:xfrm>
        </p:spPr>
        <p:txBody>
          <a:bodyPr>
            <a:noAutofit/>
          </a:bodyPr>
          <a:lstStyle/>
          <a:p>
            <a:pPr algn="l"/>
            <a:r>
              <a:rPr lang="en-US" sz="2400" b="1" dirty="0">
                <a:solidFill>
                  <a:srgbClr val="000000"/>
                </a:solidFill>
                <a:cs typeface="Archivo" pitchFamily="2" charset="0"/>
              </a:rPr>
              <a:t>Uses </a:t>
            </a:r>
            <a:r>
              <a:rPr lang="en-US" sz="2400" b="1" dirty="0" err="1">
                <a:solidFill>
                  <a:srgbClr val="000000"/>
                </a:solidFill>
                <a:cs typeface="Archivo" pitchFamily="2" charset="0"/>
              </a:rPr>
              <a:t>na</a:t>
            </a:r>
            <a:r>
              <a:rPr lang="en-US" sz="2400" b="1" dirty="0">
                <a:solidFill>
                  <a:srgbClr val="000000"/>
                </a:solidFill>
                <a:cs typeface="Archivo" pitchFamily="2" charset="0"/>
              </a:rPr>
              <a:t> Interface x Uses </a:t>
            </a:r>
            <a:r>
              <a:rPr lang="en-US" sz="2400" b="1" dirty="0" err="1">
                <a:solidFill>
                  <a:srgbClr val="000000"/>
                </a:solidFill>
                <a:cs typeface="Archivo" pitchFamily="2" charset="0"/>
              </a:rPr>
              <a:t>na</a:t>
            </a:r>
            <a:r>
              <a:rPr lang="en-US" sz="2400" b="1" dirty="0">
                <a:solidFill>
                  <a:srgbClr val="000000"/>
                </a:solidFill>
                <a:cs typeface="Archivo" pitchFamily="2" charset="0"/>
              </a:rPr>
              <a:t> Implementation</a:t>
            </a:r>
            <a:endParaRPr lang="pt-BR" sz="7200" dirty="0">
              <a:solidFill>
                <a:schemeClr val="tx1"/>
              </a:solidFill>
              <a:cs typeface="Archivo" pitchFamily="2" charset="0"/>
            </a:endParaRPr>
          </a:p>
        </p:txBody>
      </p:sp>
      <p:sp>
        <p:nvSpPr>
          <p:cNvPr id="10" name="Subtítulo 2">
            <a:extLst>
              <a:ext uri="{FF2B5EF4-FFF2-40B4-BE49-F238E27FC236}">
                <a16:creationId xmlns:a16="http://schemas.microsoft.com/office/drawing/2014/main" id="{A3E0425D-8FC5-B8C7-3225-9C55F414597B}"/>
              </a:ext>
            </a:extLst>
          </p:cNvPr>
          <p:cNvSpPr txBox="1">
            <a:spLocks noGrp="1"/>
          </p:cNvSpPr>
          <p:nvPr>
            <p:ph type="subTitle" idx="1"/>
          </p:nvPr>
        </p:nvSpPr>
        <p:spPr>
          <a:xfrm>
            <a:off x="2068945" y="2147888"/>
            <a:ext cx="9485745" cy="13573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dirty="0">
                <a:solidFill>
                  <a:schemeClr val="tx1"/>
                </a:solidFill>
                <a:cs typeface="Archivo" pitchFamily="2" charset="0"/>
              </a:rPr>
              <a:t>Dependendo de onde a unit for importada, torna ela visível para toda a unit e outras </a:t>
            </a:r>
            <a:r>
              <a:rPr lang="pt-BR" sz="1400" dirty="0" err="1">
                <a:solidFill>
                  <a:schemeClr val="tx1"/>
                </a:solidFill>
                <a:cs typeface="Archivo" pitchFamily="2" charset="0"/>
              </a:rPr>
              <a:t>units</a:t>
            </a:r>
            <a:r>
              <a:rPr lang="pt-BR" sz="1400" dirty="0">
                <a:solidFill>
                  <a:schemeClr val="tx1"/>
                </a:solidFill>
                <a:cs typeface="Archivo" pitchFamily="2" charset="0"/>
              </a:rPr>
              <a:t> que a importam, criando dependências de compilação e aumentando o tempo de compilação.</a:t>
            </a:r>
          </a:p>
        </p:txBody>
      </p:sp>
    </p:spTree>
    <p:extLst>
      <p:ext uri="{BB962C8B-B14F-4D97-AF65-F5344CB8AC3E}">
        <p14:creationId xmlns:p14="http://schemas.microsoft.com/office/powerpoint/2010/main" val="1746249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2068945" y="1023801"/>
            <a:ext cx="9568873" cy="903429"/>
          </a:xfrm>
        </p:spPr>
        <p:txBody>
          <a:bodyPr>
            <a:noAutofit/>
          </a:bodyPr>
          <a:lstStyle/>
          <a:p>
            <a:pPr algn="l"/>
            <a:r>
              <a:rPr lang="en-US" sz="2400" b="1" dirty="0">
                <a:solidFill>
                  <a:srgbClr val="000000"/>
                </a:solidFill>
              </a:rPr>
              <a:t>Referência Circular</a:t>
            </a:r>
            <a:endParaRPr lang="pt-BR" sz="7200" dirty="0">
              <a:solidFill>
                <a:schemeClr val="tx1"/>
              </a:solidFill>
              <a:cs typeface="Archivo" pitchFamily="2" charset="0"/>
            </a:endParaRPr>
          </a:p>
        </p:txBody>
      </p:sp>
      <p:sp>
        <p:nvSpPr>
          <p:cNvPr id="10" name="Subtítulo 2">
            <a:extLst>
              <a:ext uri="{FF2B5EF4-FFF2-40B4-BE49-F238E27FC236}">
                <a16:creationId xmlns:a16="http://schemas.microsoft.com/office/drawing/2014/main" id="{A3E0425D-8FC5-B8C7-3225-9C55F414597B}"/>
              </a:ext>
            </a:extLst>
          </p:cNvPr>
          <p:cNvSpPr txBox="1">
            <a:spLocks noGrp="1"/>
          </p:cNvSpPr>
          <p:nvPr>
            <p:ph type="subTitle" idx="1"/>
          </p:nvPr>
        </p:nvSpPr>
        <p:spPr>
          <a:xfrm>
            <a:off x="2068945" y="2147888"/>
            <a:ext cx="9485745" cy="135731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r>
              <a:rPr lang="pt-BR" sz="1400" dirty="0">
                <a:solidFill>
                  <a:schemeClr val="tx1"/>
                </a:solidFill>
                <a:cs typeface="Archivo" pitchFamily="2" charset="0"/>
              </a:rPr>
              <a:t>Referências circulares no Delphi ocorrem quando duas ou mais </a:t>
            </a:r>
            <a:r>
              <a:rPr lang="pt-BR" sz="1400" dirty="0" err="1">
                <a:solidFill>
                  <a:schemeClr val="tx1"/>
                </a:solidFill>
                <a:cs typeface="Archivo" pitchFamily="2" charset="0"/>
              </a:rPr>
              <a:t>units</a:t>
            </a:r>
            <a:r>
              <a:rPr lang="pt-BR" sz="1400" dirty="0">
                <a:solidFill>
                  <a:schemeClr val="tx1"/>
                </a:solidFill>
                <a:cs typeface="Archivo" pitchFamily="2" charset="0"/>
              </a:rPr>
              <a:t> ou classes se referenciam mutuamente, criando um ciclo que impede a correta compilação do código. Isso pode acontecer, por exemplo, quando a Unit A usa a Unit B, e a Unit B, por sua vez, usa a Unit A.</a:t>
            </a:r>
          </a:p>
        </p:txBody>
      </p:sp>
    </p:spTree>
    <p:extLst>
      <p:ext uri="{BB962C8B-B14F-4D97-AF65-F5344CB8AC3E}">
        <p14:creationId xmlns:p14="http://schemas.microsoft.com/office/powerpoint/2010/main" val="361996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cs typeface="Archivo" pitchFamily="2" charset="0"/>
              </a:rPr>
              <a:t>Referência Circular</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endParaRPr lang="pt-BR" sz="1400" dirty="0">
              <a:solidFill>
                <a:schemeClr val="tx1"/>
              </a:solidFill>
              <a:cs typeface="Archivo" pitchFamily="2" charset="0"/>
            </a:endParaRPr>
          </a:p>
        </p:txBody>
      </p:sp>
      <p:pic>
        <p:nvPicPr>
          <p:cNvPr id="11" name="Imagem 10">
            <a:extLst>
              <a:ext uri="{FF2B5EF4-FFF2-40B4-BE49-F238E27FC236}">
                <a16:creationId xmlns:a16="http://schemas.microsoft.com/office/drawing/2014/main" id="{AD77A161-3254-DBB2-4B90-CF7B408D4469}"/>
              </a:ext>
            </a:extLst>
          </p:cNvPr>
          <p:cNvPicPr>
            <a:picLocks noChangeAspect="1"/>
          </p:cNvPicPr>
          <p:nvPr/>
        </p:nvPicPr>
        <p:blipFill>
          <a:blip r:embed="rId4"/>
          <a:stretch>
            <a:fillRect/>
          </a:stretch>
        </p:blipFill>
        <p:spPr>
          <a:xfrm>
            <a:off x="725488" y="2147887"/>
            <a:ext cx="2719893" cy="2085975"/>
          </a:xfrm>
          <a:prstGeom prst="rect">
            <a:avLst/>
          </a:prstGeom>
        </p:spPr>
      </p:pic>
      <p:pic>
        <p:nvPicPr>
          <p:cNvPr id="13" name="Imagem 12">
            <a:extLst>
              <a:ext uri="{FF2B5EF4-FFF2-40B4-BE49-F238E27FC236}">
                <a16:creationId xmlns:a16="http://schemas.microsoft.com/office/drawing/2014/main" id="{CFD669F4-CF9F-6801-53E0-5F27222854A1}"/>
              </a:ext>
            </a:extLst>
          </p:cNvPr>
          <p:cNvPicPr>
            <a:picLocks noChangeAspect="1"/>
          </p:cNvPicPr>
          <p:nvPr/>
        </p:nvPicPr>
        <p:blipFill>
          <a:blip r:embed="rId5"/>
          <a:stretch>
            <a:fillRect/>
          </a:stretch>
        </p:blipFill>
        <p:spPr>
          <a:xfrm>
            <a:off x="3445381" y="2147887"/>
            <a:ext cx="2751501" cy="2085975"/>
          </a:xfrm>
          <a:prstGeom prst="rect">
            <a:avLst/>
          </a:prstGeom>
        </p:spPr>
      </p:pic>
      <p:pic>
        <p:nvPicPr>
          <p:cNvPr id="15" name="Imagem 14">
            <a:extLst>
              <a:ext uri="{FF2B5EF4-FFF2-40B4-BE49-F238E27FC236}">
                <a16:creationId xmlns:a16="http://schemas.microsoft.com/office/drawing/2014/main" id="{B3D034A4-54A3-7558-873F-C8758EBE0ECD}"/>
              </a:ext>
            </a:extLst>
          </p:cNvPr>
          <p:cNvPicPr>
            <a:picLocks noChangeAspect="1"/>
          </p:cNvPicPr>
          <p:nvPr/>
        </p:nvPicPr>
        <p:blipFill>
          <a:blip r:embed="rId6"/>
          <a:stretch>
            <a:fillRect/>
          </a:stretch>
        </p:blipFill>
        <p:spPr>
          <a:xfrm>
            <a:off x="725488" y="4233862"/>
            <a:ext cx="5471394" cy="1771650"/>
          </a:xfrm>
          <a:prstGeom prst="rect">
            <a:avLst/>
          </a:prstGeom>
        </p:spPr>
      </p:pic>
      <p:pic>
        <p:nvPicPr>
          <p:cNvPr id="16" name="Imagem 15">
            <a:extLst>
              <a:ext uri="{FF2B5EF4-FFF2-40B4-BE49-F238E27FC236}">
                <a16:creationId xmlns:a16="http://schemas.microsoft.com/office/drawing/2014/main" id="{148AFA95-A7E6-1E36-4975-69F627A7FDA6}"/>
              </a:ext>
            </a:extLst>
          </p:cNvPr>
          <p:cNvPicPr>
            <a:picLocks noChangeAspect="1"/>
          </p:cNvPicPr>
          <p:nvPr/>
        </p:nvPicPr>
        <p:blipFill>
          <a:blip r:embed="rId4"/>
          <a:stretch>
            <a:fillRect/>
          </a:stretch>
        </p:blipFill>
        <p:spPr>
          <a:xfrm>
            <a:off x="6281992" y="2147887"/>
            <a:ext cx="2719893" cy="2085975"/>
          </a:xfrm>
          <a:prstGeom prst="rect">
            <a:avLst/>
          </a:prstGeom>
        </p:spPr>
      </p:pic>
      <p:pic>
        <p:nvPicPr>
          <p:cNvPr id="20" name="Imagem 19">
            <a:extLst>
              <a:ext uri="{FF2B5EF4-FFF2-40B4-BE49-F238E27FC236}">
                <a16:creationId xmlns:a16="http://schemas.microsoft.com/office/drawing/2014/main" id="{91CA9F50-2B62-3F1C-E5EF-9C1E905FE699}"/>
              </a:ext>
            </a:extLst>
          </p:cNvPr>
          <p:cNvPicPr>
            <a:picLocks noChangeAspect="1"/>
          </p:cNvPicPr>
          <p:nvPr/>
        </p:nvPicPr>
        <p:blipFill>
          <a:blip r:embed="rId7"/>
          <a:stretch>
            <a:fillRect/>
          </a:stretch>
        </p:blipFill>
        <p:spPr>
          <a:xfrm>
            <a:off x="9001885" y="2147886"/>
            <a:ext cx="2719892" cy="2085975"/>
          </a:xfrm>
          <a:prstGeom prst="rect">
            <a:avLst/>
          </a:prstGeom>
        </p:spPr>
      </p:pic>
      <p:pic>
        <p:nvPicPr>
          <p:cNvPr id="22" name="Imagem 21">
            <a:extLst>
              <a:ext uri="{FF2B5EF4-FFF2-40B4-BE49-F238E27FC236}">
                <a16:creationId xmlns:a16="http://schemas.microsoft.com/office/drawing/2014/main" id="{89EF6E5D-6192-6CA1-228B-A981AD904FE2}"/>
              </a:ext>
            </a:extLst>
          </p:cNvPr>
          <p:cNvPicPr>
            <a:picLocks noChangeAspect="1"/>
          </p:cNvPicPr>
          <p:nvPr/>
        </p:nvPicPr>
        <p:blipFill>
          <a:blip r:embed="rId8"/>
          <a:stretch>
            <a:fillRect/>
          </a:stretch>
        </p:blipFill>
        <p:spPr>
          <a:xfrm>
            <a:off x="6281992" y="4233860"/>
            <a:ext cx="5439785" cy="1771649"/>
          </a:xfrm>
          <a:prstGeom prst="rect">
            <a:avLst/>
          </a:prstGeom>
        </p:spPr>
      </p:pic>
    </p:spTree>
    <p:extLst>
      <p:ext uri="{BB962C8B-B14F-4D97-AF65-F5344CB8AC3E}">
        <p14:creationId xmlns:p14="http://schemas.microsoft.com/office/powerpoint/2010/main" val="1938324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omo os espartanos eram treinados para se transformar em guerreiros? - Mega  Curioso">
            <a:extLst>
              <a:ext uri="{FF2B5EF4-FFF2-40B4-BE49-F238E27FC236}">
                <a16:creationId xmlns:a16="http://schemas.microsoft.com/office/drawing/2014/main" id="{3CC99054-E927-FC87-8028-EB08F703F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438" r="1813"/>
          <a:stretch/>
        </p:blipFill>
        <p:spPr bwMode="auto">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D287372B-DF39-6707-B57C-32A3D80884A3}"/>
              </a:ext>
            </a:extLst>
          </p:cNvPr>
          <p:cNvSpPr txBox="1">
            <a:spLocks/>
          </p:cNvSpPr>
          <p:nvPr/>
        </p:nvSpPr>
        <p:spPr>
          <a:xfrm>
            <a:off x="661916" y="2852381"/>
            <a:ext cx="3161940" cy="26402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3600" b="1" dirty="0">
                <a:solidFill>
                  <a:schemeClr val="tx1">
                    <a:lumMod val="85000"/>
                    <a:lumOff val="15000"/>
                  </a:schemeClr>
                </a:solidFill>
              </a:rPr>
              <a:t>Para combater o </a:t>
            </a:r>
            <a:r>
              <a:rPr lang="en-US" sz="3600" b="1" dirty="0" err="1">
                <a:solidFill>
                  <a:schemeClr val="tx1">
                    <a:lumMod val="85000"/>
                    <a:lumOff val="15000"/>
                  </a:schemeClr>
                </a:solidFill>
              </a:rPr>
              <a:t>inimigo</a:t>
            </a:r>
            <a:r>
              <a:rPr lang="en-US" sz="3600" b="1" dirty="0">
                <a:solidFill>
                  <a:schemeClr val="tx1">
                    <a:lumMod val="85000"/>
                    <a:lumOff val="15000"/>
                  </a:schemeClr>
                </a:solidFill>
              </a:rPr>
              <a:t>, </a:t>
            </a:r>
            <a:r>
              <a:rPr lang="en-US" sz="3600" b="1" dirty="0" err="1">
                <a:solidFill>
                  <a:schemeClr val="tx1">
                    <a:lumMod val="85000"/>
                    <a:lumOff val="15000"/>
                  </a:schemeClr>
                </a:solidFill>
              </a:rPr>
              <a:t>precisamos</a:t>
            </a:r>
            <a:r>
              <a:rPr lang="en-US" sz="3600" b="1" dirty="0">
                <a:solidFill>
                  <a:schemeClr val="tx1">
                    <a:lumMod val="85000"/>
                    <a:lumOff val="15000"/>
                  </a:schemeClr>
                </a:solidFill>
              </a:rPr>
              <a:t> de boas </a:t>
            </a:r>
            <a:r>
              <a:rPr lang="en-US" sz="3600" b="1" dirty="0" err="1">
                <a:solidFill>
                  <a:schemeClr val="tx1">
                    <a:lumMod val="85000"/>
                    <a:lumOff val="15000"/>
                  </a:schemeClr>
                </a:solidFill>
              </a:rPr>
              <a:t>armas</a:t>
            </a:r>
            <a:r>
              <a:rPr lang="en-US" sz="3600" b="1" dirty="0">
                <a:solidFill>
                  <a:schemeClr val="tx1">
                    <a:lumMod val="85000"/>
                    <a:lumOff val="15000"/>
                  </a:schemeClr>
                </a:solidFill>
              </a:rPr>
              <a:t> ...</a:t>
            </a:r>
            <a:endParaRPr lang="en-US" sz="3600" dirty="0">
              <a:solidFill>
                <a:schemeClr val="tx1">
                  <a:lumMod val="85000"/>
                  <a:lumOff val="15000"/>
                </a:schemeClr>
              </a:solidFill>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endParaRPr lang="pt-BR" sz="1400" dirty="0">
              <a:solidFill>
                <a:schemeClr val="tx1"/>
              </a:solidFill>
              <a:cs typeface="Archivo" pitchFamily="2" charset="0"/>
            </a:endParaRPr>
          </a:p>
        </p:txBody>
      </p:sp>
    </p:spTree>
    <p:extLst>
      <p:ext uri="{BB962C8B-B14F-4D97-AF65-F5344CB8AC3E}">
        <p14:creationId xmlns:p14="http://schemas.microsoft.com/office/powerpoint/2010/main" val="542117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err="1">
                <a:solidFill>
                  <a:srgbClr val="000000"/>
                </a:solidFill>
                <a:cs typeface="Archivo" pitchFamily="2" charset="0"/>
              </a:rPr>
              <a:t>GExperts</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chemeClr val="tx1"/>
                </a:solidFill>
                <a:cs typeface="Archivo" pitchFamily="2" charset="0"/>
              </a:rPr>
              <a:t>O </a:t>
            </a:r>
            <a:r>
              <a:rPr lang="pt-BR" sz="1400" dirty="0" err="1">
                <a:solidFill>
                  <a:schemeClr val="tx1"/>
                </a:solidFill>
                <a:cs typeface="Archivo" pitchFamily="2" charset="0"/>
              </a:rPr>
              <a:t>GExperts</a:t>
            </a:r>
            <a:r>
              <a:rPr lang="pt-BR" sz="1400" dirty="0">
                <a:solidFill>
                  <a:schemeClr val="tx1"/>
                </a:solidFill>
                <a:cs typeface="Archivo" pitchFamily="2" charset="0"/>
              </a:rPr>
              <a:t> é um conjunto de ferramentas gratuitas e de código aberto projetadas para aumentar a produtividade dos programadores Delphi e C++</a:t>
            </a:r>
            <a:r>
              <a:rPr lang="pt-BR" sz="1400" dirty="0" err="1">
                <a:solidFill>
                  <a:schemeClr val="tx1"/>
                </a:solidFill>
                <a:cs typeface="Archivo" pitchFamily="2" charset="0"/>
              </a:rPr>
              <a:t>Builder</a:t>
            </a:r>
            <a:r>
              <a:rPr lang="pt-BR" sz="1400" dirty="0">
                <a:solidFill>
                  <a:schemeClr val="tx1"/>
                </a:solidFill>
                <a:cs typeface="Archivo" pitchFamily="2" charset="0"/>
              </a:rPr>
              <a:t>, adicionando várias funcionalidades ao IDE https://www.gexperts.org/. Desenvolvido pela comunidade, ele oferece uma série de recursos úteis</a:t>
            </a:r>
          </a:p>
        </p:txBody>
      </p:sp>
      <p:pic>
        <p:nvPicPr>
          <p:cNvPr id="3074" name="Picture 2" descr="GExperts | Programming Tools for Delphi and C++Builder">
            <a:extLst>
              <a:ext uri="{FF2B5EF4-FFF2-40B4-BE49-F238E27FC236}">
                <a16:creationId xmlns:a16="http://schemas.microsoft.com/office/drawing/2014/main" id="{95CFB42E-F407-8BA7-1A8C-514425F820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48251"/>
            <a:ext cx="5762248" cy="6161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368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cs typeface="Archivo" pitchFamily="2" charset="0"/>
              </a:rPr>
              <a:t>(PAL) – Pascal </a:t>
            </a:r>
            <a:r>
              <a:rPr lang="pt-BR" sz="2400" b="1" dirty="0" err="1">
                <a:solidFill>
                  <a:srgbClr val="000000"/>
                </a:solidFill>
                <a:cs typeface="Archivo" pitchFamily="2" charset="0"/>
              </a:rPr>
              <a:t>Analyzer</a:t>
            </a:r>
            <a:r>
              <a:rPr lang="pt-BR" sz="2400" b="1" dirty="0">
                <a:solidFill>
                  <a:srgbClr val="000000"/>
                </a:solidFill>
                <a:cs typeface="Archivo" pitchFamily="2" charset="0"/>
              </a:rPr>
              <a:t> Lite</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chemeClr val="tx1"/>
                </a:solidFill>
                <a:cs typeface="Archivo" pitchFamily="2" charset="0"/>
              </a:rPr>
              <a:t>O Pascal </a:t>
            </a:r>
            <a:r>
              <a:rPr lang="pt-BR" sz="1400" dirty="0" err="1">
                <a:solidFill>
                  <a:schemeClr val="tx1"/>
                </a:solidFill>
                <a:cs typeface="Archivo" pitchFamily="2" charset="0"/>
              </a:rPr>
              <a:t>Analyzer</a:t>
            </a:r>
            <a:r>
              <a:rPr lang="pt-BR" sz="1400" dirty="0">
                <a:solidFill>
                  <a:schemeClr val="tx1"/>
                </a:solidFill>
                <a:cs typeface="Archivo" pitchFamily="2" charset="0"/>
              </a:rPr>
              <a:t> Lite (PAL) é uma versão gratuita e simplificada do Pascal </a:t>
            </a:r>
            <a:r>
              <a:rPr lang="pt-BR" sz="1400" dirty="0" err="1">
                <a:solidFill>
                  <a:schemeClr val="tx1"/>
                </a:solidFill>
                <a:cs typeface="Archivo" pitchFamily="2" charset="0"/>
              </a:rPr>
              <a:t>Analyzer</a:t>
            </a:r>
            <a:r>
              <a:rPr lang="pt-BR" sz="1400" dirty="0">
                <a:solidFill>
                  <a:schemeClr val="tx1"/>
                </a:solidFill>
                <a:cs typeface="Archivo" pitchFamily="2" charset="0"/>
              </a:rPr>
              <a:t>, uma ferramenta de análise de código estático para Delphi e Pascal. Desenvolvido pela </a:t>
            </a:r>
            <a:r>
              <a:rPr lang="pt-BR" sz="1400" dirty="0" err="1">
                <a:solidFill>
                  <a:schemeClr val="tx1"/>
                </a:solidFill>
                <a:cs typeface="Archivo" pitchFamily="2" charset="0"/>
              </a:rPr>
              <a:t>Peganza</a:t>
            </a:r>
            <a:r>
              <a:rPr lang="pt-BR" sz="1400" dirty="0">
                <a:solidFill>
                  <a:schemeClr val="tx1"/>
                </a:solidFill>
                <a:cs typeface="Archivo" pitchFamily="2" charset="0"/>
              </a:rPr>
              <a:t>, o PAL ajuda a analisar, documentar, depurar e otimizar o código-fonte.</a:t>
            </a:r>
          </a:p>
        </p:txBody>
      </p:sp>
      <p:pic>
        <p:nvPicPr>
          <p:cNvPr id="2050" name="Picture 2" descr="Download Pascal Analyzer Lite">
            <a:extLst>
              <a:ext uri="{FF2B5EF4-FFF2-40B4-BE49-F238E27FC236}">
                <a16:creationId xmlns:a16="http://schemas.microsoft.com/office/drawing/2014/main" id="{41BBA7B4-727A-9DD4-4D94-9937459AD9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48251"/>
            <a:ext cx="5762922" cy="6161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299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err="1">
                <a:solidFill>
                  <a:srgbClr val="000000"/>
                </a:solidFill>
                <a:cs typeface="Archivo" pitchFamily="2" charset="0"/>
              </a:rPr>
              <a:t>CnWizard</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chemeClr val="tx1"/>
                </a:solidFill>
                <a:cs typeface="Archivo" pitchFamily="2" charset="0"/>
              </a:rPr>
              <a:t>O </a:t>
            </a:r>
            <a:r>
              <a:rPr lang="pt-BR" sz="1400" dirty="0" err="1">
                <a:solidFill>
                  <a:schemeClr val="tx1"/>
                </a:solidFill>
                <a:cs typeface="Archivo" pitchFamily="2" charset="0"/>
              </a:rPr>
              <a:t>CnWizards</a:t>
            </a:r>
            <a:r>
              <a:rPr lang="pt-BR" sz="1400" dirty="0">
                <a:solidFill>
                  <a:schemeClr val="tx1"/>
                </a:solidFill>
                <a:cs typeface="Archivo" pitchFamily="2" charset="0"/>
              </a:rPr>
              <a:t> (</a:t>
            </a:r>
            <a:r>
              <a:rPr lang="pt-BR" sz="1400" dirty="0" err="1">
                <a:solidFill>
                  <a:schemeClr val="tx1"/>
                </a:solidFill>
                <a:cs typeface="Archivo" pitchFamily="2" charset="0"/>
              </a:rPr>
              <a:t>CnPack</a:t>
            </a:r>
            <a:r>
              <a:rPr lang="pt-BR" sz="1400" dirty="0">
                <a:solidFill>
                  <a:schemeClr val="tx1"/>
                </a:solidFill>
                <a:cs typeface="Archivo" pitchFamily="2" charset="0"/>
              </a:rPr>
              <a:t> IDE Wizards) é um conjunto de ferramentas de código aberto para Delphi e C++ </a:t>
            </a:r>
            <a:r>
              <a:rPr lang="pt-BR" sz="1400" dirty="0" err="1">
                <a:solidFill>
                  <a:schemeClr val="tx1"/>
                </a:solidFill>
                <a:cs typeface="Archivo" pitchFamily="2" charset="0"/>
              </a:rPr>
              <a:t>Builder</a:t>
            </a:r>
            <a:r>
              <a:rPr lang="pt-BR" sz="1400" dirty="0">
                <a:solidFill>
                  <a:schemeClr val="tx1"/>
                </a:solidFill>
                <a:cs typeface="Archivo" pitchFamily="2" charset="0"/>
              </a:rPr>
              <a:t>, desenvolvido pela equipe </a:t>
            </a:r>
            <a:r>
              <a:rPr lang="pt-BR" sz="1400" dirty="0" err="1">
                <a:solidFill>
                  <a:schemeClr val="tx1"/>
                </a:solidFill>
                <a:cs typeface="Archivo" pitchFamily="2" charset="0"/>
              </a:rPr>
              <a:t>CnPack</a:t>
            </a:r>
            <a:r>
              <a:rPr lang="pt-BR" sz="1400" dirty="0">
                <a:solidFill>
                  <a:schemeClr val="tx1"/>
                </a:solidFill>
                <a:cs typeface="Archivo" pitchFamily="2" charset="0"/>
              </a:rPr>
              <a:t>. Ele visa melhorar a eficiência dos desenvolvedores, oferecendo uma série de assistentes e melhorias para o ambiente de desenvolvimento integrado (IDE).</a:t>
            </a:r>
          </a:p>
        </p:txBody>
      </p:sp>
      <p:pic>
        <p:nvPicPr>
          <p:cNvPr id="4098" name="Picture 2" descr="CnPack Open Source Projects - Home Page">
            <a:extLst>
              <a:ext uri="{FF2B5EF4-FFF2-40B4-BE49-F238E27FC236}">
                <a16:creationId xmlns:a16="http://schemas.microsoft.com/office/drawing/2014/main" id="{6CEB6CF5-4709-9CC4-5C9E-27A55637E5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48251"/>
            <a:ext cx="5762922" cy="616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348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tângulo: Cantos Arredondados 5">
            <a:extLst>
              <a:ext uri="{FF2B5EF4-FFF2-40B4-BE49-F238E27FC236}">
                <a16:creationId xmlns:a16="http://schemas.microsoft.com/office/drawing/2014/main" id="{50174F44-9574-E36C-887B-81A85695FD27}"/>
              </a:ext>
            </a:extLst>
          </p:cNvPr>
          <p:cNvSpPr/>
          <p:nvPr/>
        </p:nvSpPr>
        <p:spPr>
          <a:xfrm>
            <a:off x="6488788" y="348251"/>
            <a:ext cx="5370134" cy="6161497"/>
          </a:xfrm>
          <a:prstGeom prst="roundRect">
            <a:avLst>
              <a:gd name="adj" fmla="val 42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bg1"/>
              </a:solidFill>
            </a:endParaRPr>
          </a:p>
        </p:txBody>
      </p:sp>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err="1">
                <a:solidFill>
                  <a:srgbClr val="000000"/>
                </a:solidFill>
                <a:cs typeface="Archivo" pitchFamily="2" charset="0"/>
              </a:rPr>
              <a:t>DelphiLint</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spcBef>
                <a:spcPts val="600"/>
              </a:spcBef>
            </a:pPr>
            <a:r>
              <a:rPr lang="pt-BR" sz="1400" dirty="0">
                <a:solidFill>
                  <a:schemeClr val="tx1"/>
                </a:solidFill>
                <a:cs typeface="Archivo" pitchFamily="2" charset="0"/>
              </a:rPr>
              <a:t>O </a:t>
            </a:r>
            <a:r>
              <a:rPr lang="pt-BR" sz="1400" dirty="0" err="1">
                <a:solidFill>
                  <a:schemeClr val="tx1"/>
                </a:solidFill>
                <a:cs typeface="Archivo" pitchFamily="2" charset="0"/>
              </a:rPr>
              <a:t>DelphiLint</a:t>
            </a:r>
            <a:r>
              <a:rPr lang="pt-BR" sz="1400" dirty="0">
                <a:solidFill>
                  <a:schemeClr val="tx1"/>
                </a:solidFill>
                <a:cs typeface="Archivo" pitchFamily="2" charset="0"/>
              </a:rPr>
              <a:t> é um pacote de IDE para RAD Studio que oferece análise de código em tempo real e </a:t>
            </a:r>
            <a:r>
              <a:rPr lang="pt-BR" sz="1400" dirty="0" err="1">
                <a:solidFill>
                  <a:schemeClr val="tx1"/>
                </a:solidFill>
                <a:cs typeface="Archivo" pitchFamily="2" charset="0"/>
              </a:rPr>
              <a:t>linting</a:t>
            </a:r>
            <a:r>
              <a:rPr lang="pt-BR" sz="1400" dirty="0">
                <a:solidFill>
                  <a:schemeClr val="tx1"/>
                </a:solidFill>
                <a:cs typeface="Archivo" pitchFamily="2" charset="0"/>
              </a:rPr>
              <a:t>, utilizando o </a:t>
            </a:r>
            <a:r>
              <a:rPr lang="pt-BR" sz="1400" dirty="0" err="1">
                <a:solidFill>
                  <a:schemeClr val="tx1"/>
                </a:solidFill>
                <a:cs typeface="Archivo" pitchFamily="2" charset="0"/>
              </a:rPr>
              <a:t>SonarDelphi</a:t>
            </a:r>
            <a:r>
              <a:rPr lang="pt-BR" sz="1400" dirty="0">
                <a:solidFill>
                  <a:schemeClr val="tx1"/>
                </a:solidFill>
                <a:cs typeface="Archivo" pitchFamily="2" charset="0"/>
              </a:rPr>
              <a:t> https://github.com/</a:t>
            </a:r>
            <a:r>
              <a:rPr lang="pt-BR" sz="1400" dirty="0" err="1">
                <a:solidFill>
                  <a:schemeClr val="tx1"/>
                </a:solidFill>
                <a:cs typeface="Archivo" pitchFamily="2" charset="0"/>
              </a:rPr>
              <a:t>integrated-application-development</a:t>
            </a:r>
            <a:r>
              <a:rPr lang="pt-BR" sz="1400" dirty="0">
                <a:solidFill>
                  <a:schemeClr val="tx1"/>
                </a:solidFill>
                <a:cs typeface="Archivo" pitchFamily="2" charset="0"/>
              </a:rPr>
              <a:t>/</a:t>
            </a:r>
            <a:r>
              <a:rPr lang="pt-BR" sz="1400" dirty="0" err="1">
                <a:solidFill>
                  <a:schemeClr val="tx1"/>
                </a:solidFill>
                <a:cs typeface="Archivo" pitchFamily="2" charset="0"/>
              </a:rPr>
              <a:t>delphilint</a:t>
            </a:r>
            <a:r>
              <a:rPr lang="pt-BR" sz="1400" dirty="0">
                <a:solidFill>
                  <a:schemeClr val="tx1"/>
                </a:solidFill>
                <a:cs typeface="Archivo" pitchFamily="2" charset="0"/>
              </a:rPr>
              <a:t>. Ele ajuda a identificar e corrigir problemas no código antes mesmo de serem confirmados, proporcionando um ciclo de feedback mais curto.</a:t>
            </a:r>
          </a:p>
        </p:txBody>
      </p:sp>
      <p:pic>
        <p:nvPicPr>
          <p:cNvPr id="5122" name="Picture 2">
            <a:extLst>
              <a:ext uri="{FF2B5EF4-FFF2-40B4-BE49-F238E27FC236}">
                <a16:creationId xmlns:a16="http://schemas.microsoft.com/office/drawing/2014/main" id="{5ACA0DAA-3F22-0362-EC1E-C0973E4C6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348251"/>
            <a:ext cx="5762922" cy="616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128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5" name="Rectangle 8200">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6" name="Freeform: Shape 8202">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ítulo 1">
            <a:extLst>
              <a:ext uri="{FF2B5EF4-FFF2-40B4-BE49-F238E27FC236}">
                <a16:creationId xmlns:a16="http://schemas.microsoft.com/office/drawing/2014/main" id="{B5CF5A7F-04AA-7D0B-22C7-84DC4744996D}"/>
              </a:ext>
            </a:extLst>
          </p:cNvPr>
          <p:cNvSpPr>
            <a:spLocks noGrp="1"/>
          </p:cNvSpPr>
          <p:nvPr>
            <p:ph type="ctrTitle"/>
          </p:nvPr>
        </p:nvSpPr>
        <p:spPr>
          <a:xfrm>
            <a:off x="773408" y="992094"/>
            <a:ext cx="3616913" cy="2795160"/>
          </a:xfrm>
        </p:spPr>
        <p:txBody>
          <a:bodyPr>
            <a:normAutofit/>
          </a:bodyPr>
          <a:lstStyle/>
          <a:p>
            <a:r>
              <a:rPr lang="en-US" sz="4400" b="1"/>
              <a:t>Dúvidas ???</a:t>
            </a:r>
            <a:endParaRPr lang="pt-BR" sz="4400">
              <a:cs typeface="Archivo" pitchFamily="2" charset="0"/>
            </a:endParaRPr>
          </a:p>
        </p:txBody>
      </p:sp>
      <p:sp>
        <p:nvSpPr>
          <p:cNvPr id="3" name="Subtítulo 2">
            <a:extLst>
              <a:ext uri="{FF2B5EF4-FFF2-40B4-BE49-F238E27FC236}">
                <a16:creationId xmlns:a16="http://schemas.microsoft.com/office/drawing/2014/main" id="{4FA1C42B-25A2-19ED-0D81-06074AFE7082}"/>
              </a:ext>
            </a:extLst>
          </p:cNvPr>
          <p:cNvSpPr>
            <a:spLocks noGrp="1"/>
          </p:cNvSpPr>
          <p:nvPr>
            <p:ph type="subTitle" idx="1"/>
          </p:nvPr>
        </p:nvSpPr>
        <p:spPr>
          <a:xfrm>
            <a:off x="996287" y="4121253"/>
            <a:ext cx="3125337" cy="1136843"/>
          </a:xfrm>
        </p:spPr>
        <p:txBody>
          <a:bodyPr>
            <a:normAutofit/>
          </a:bodyPr>
          <a:lstStyle/>
          <a:p>
            <a:endParaRPr lang="pt-BR" sz="1800"/>
          </a:p>
        </p:txBody>
      </p:sp>
      <p:pic>
        <p:nvPicPr>
          <p:cNvPr id="8196" name="Picture 4" descr="Emoji Pensativo PNG Imagens e Moldes.com.br Emoticon">
            <a:extLst>
              <a:ext uri="{FF2B5EF4-FFF2-40B4-BE49-F238E27FC236}">
                <a16:creationId xmlns:a16="http://schemas.microsoft.com/office/drawing/2014/main" id="{3F78C0DC-5287-EA9F-C313-E7FF2E2F31C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14801" y="578738"/>
            <a:ext cx="5670549" cy="567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19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287372B-DF39-6707-B57C-32A3D80884A3}"/>
              </a:ext>
            </a:extLst>
          </p:cNvPr>
          <p:cNvSpPr txBox="1">
            <a:spLocks/>
          </p:cNvSpPr>
          <p:nvPr/>
        </p:nvSpPr>
        <p:spPr>
          <a:xfrm>
            <a:off x="726053" y="1023801"/>
            <a:ext cx="4977161" cy="9034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2400" b="1" dirty="0">
                <a:solidFill>
                  <a:srgbClr val="000000"/>
                </a:solidFill>
                <a:cs typeface="Archivo" pitchFamily="2" charset="0"/>
              </a:rPr>
              <a:t>Melhores da Conference - 2023</a:t>
            </a:r>
            <a:endParaRPr lang="pt-BR" sz="7200" dirty="0">
              <a:cs typeface="Archivo" pitchFamily="2" charset="0"/>
            </a:endParaRPr>
          </a:p>
        </p:txBody>
      </p:sp>
      <p:sp>
        <p:nvSpPr>
          <p:cNvPr id="8" name="Subtítulo 2">
            <a:extLst>
              <a:ext uri="{FF2B5EF4-FFF2-40B4-BE49-F238E27FC236}">
                <a16:creationId xmlns:a16="http://schemas.microsoft.com/office/drawing/2014/main" id="{B7AC7977-A117-7991-9A7B-08E1B05363A9}"/>
              </a:ext>
            </a:extLst>
          </p:cNvPr>
          <p:cNvSpPr txBox="1">
            <a:spLocks/>
          </p:cNvSpPr>
          <p:nvPr/>
        </p:nvSpPr>
        <p:spPr>
          <a:xfrm>
            <a:off x="725488" y="2147887"/>
            <a:ext cx="4978400" cy="36039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Arial Nova" panose="020B05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Nova" panose="020B05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Nova" panose="020B05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Nova"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spcBef>
                <a:spcPts val="600"/>
              </a:spcBef>
            </a:pPr>
            <a:endParaRPr lang="pt-BR" sz="1400" dirty="0">
              <a:solidFill>
                <a:schemeClr val="tx1"/>
              </a:solidFill>
              <a:cs typeface="Archivo" pitchFamily="2" charset="0"/>
            </a:endParaRPr>
          </a:p>
        </p:txBody>
      </p:sp>
      <p:pic>
        <p:nvPicPr>
          <p:cNvPr id="6146" name="Picture 2">
            <a:extLst>
              <a:ext uri="{FF2B5EF4-FFF2-40B4-BE49-F238E27FC236}">
                <a16:creationId xmlns:a16="http://schemas.microsoft.com/office/drawing/2014/main" id="{1A242C9E-34DD-6CBD-9ABC-918BCAA24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488" y="2147887"/>
            <a:ext cx="6461696" cy="385762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D797052-0088-A0FD-89FC-64AA1572B01C}"/>
              </a:ext>
            </a:extLst>
          </p:cNvPr>
          <p:cNvSpPr txBox="1">
            <a:spLocks/>
          </p:cNvSpPr>
          <p:nvPr/>
        </p:nvSpPr>
        <p:spPr>
          <a:xfrm>
            <a:off x="8558449" y="1927230"/>
            <a:ext cx="2482342" cy="4672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pt-BR" sz="2700" b="1" dirty="0">
                <a:latin typeface="Arial" panose="020B0604020202020204" pitchFamily="34" charset="0"/>
                <a:cs typeface="Arial" panose="020B0604020202020204" pitchFamily="34" charset="0"/>
              </a:rPr>
              <a:t>Não deixe essa sequência acabar 🔥 </a:t>
            </a:r>
          </a:p>
        </p:txBody>
      </p:sp>
      <p:pic>
        <p:nvPicPr>
          <p:cNvPr id="4" name="Imagem 3">
            <a:extLst>
              <a:ext uri="{FF2B5EF4-FFF2-40B4-BE49-F238E27FC236}">
                <a16:creationId xmlns:a16="http://schemas.microsoft.com/office/drawing/2014/main" id="{88CB5E20-1FD4-B589-6C93-B2C5590C8BC0}"/>
              </a:ext>
            </a:extLst>
          </p:cNvPr>
          <p:cNvPicPr>
            <a:picLocks noChangeAspect="1"/>
          </p:cNvPicPr>
          <p:nvPr/>
        </p:nvPicPr>
        <p:blipFill>
          <a:blip r:embed="rId5"/>
          <a:stretch>
            <a:fillRect/>
          </a:stretch>
        </p:blipFill>
        <p:spPr>
          <a:xfrm>
            <a:off x="8371864" y="2873605"/>
            <a:ext cx="2855512" cy="2878265"/>
          </a:xfrm>
          <a:prstGeom prst="rect">
            <a:avLst/>
          </a:prstGeom>
        </p:spPr>
      </p:pic>
    </p:spTree>
    <p:extLst>
      <p:ext uri="{BB962C8B-B14F-4D97-AF65-F5344CB8AC3E}">
        <p14:creationId xmlns:p14="http://schemas.microsoft.com/office/powerpoint/2010/main" val="3569246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pSp>
        <p:nvGrpSpPr>
          <p:cNvPr id="2" name="Agrupar 1">
            <a:extLst>
              <a:ext uri="{FF2B5EF4-FFF2-40B4-BE49-F238E27FC236}">
                <a16:creationId xmlns:a16="http://schemas.microsoft.com/office/drawing/2014/main" id="{385FCBB0-4384-4EF5-CE43-B9E9D2E21E17}"/>
              </a:ext>
            </a:extLst>
          </p:cNvPr>
          <p:cNvGrpSpPr/>
          <p:nvPr/>
        </p:nvGrpSpPr>
        <p:grpSpPr>
          <a:xfrm>
            <a:off x="7197727" y="1546679"/>
            <a:ext cx="4721223" cy="3764642"/>
            <a:chOff x="7369177" y="1061636"/>
            <a:chExt cx="4721223" cy="3764642"/>
          </a:xfrm>
        </p:grpSpPr>
        <p:sp>
          <p:nvSpPr>
            <p:cNvPr id="3" name="Título 1">
              <a:extLst>
                <a:ext uri="{FF2B5EF4-FFF2-40B4-BE49-F238E27FC236}">
                  <a16:creationId xmlns:a16="http://schemas.microsoft.com/office/drawing/2014/main" id="{DD2346F5-7BDE-4B9E-F1D0-3B753AD0C01D}"/>
                </a:ext>
              </a:extLst>
            </p:cNvPr>
            <p:cNvSpPr txBox="1">
              <a:spLocks/>
            </p:cNvSpPr>
            <p:nvPr/>
          </p:nvSpPr>
          <p:spPr>
            <a:xfrm>
              <a:off x="7369177" y="2571276"/>
              <a:ext cx="4721223" cy="4672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Arial Nova" panose="020B0504020202020204" pitchFamily="34" charset="0"/>
                  <a:ea typeface="+mj-ea"/>
                  <a:cs typeface="+mj-cs"/>
                </a:defRPr>
              </a:lvl1pPr>
            </a:lstStyle>
            <a:p>
              <a:r>
                <a:rPr lang="pt-BR" sz="2700" b="1" dirty="0">
                  <a:latin typeface="Arial" panose="020B0604020202020204" pitchFamily="34" charset="0"/>
                  <a:cs typeface="Arial" panose="020B0604020202020204" pitchFamily="34" charset="0"/>
                </a:rPr>
                <a:t>Vinicius Abreu</a:t>
              </a:r>
            </a:p>
          </p:txBody>
        </p:sp>
        <p:grpSp>
          <p:nvGrpSpPr>
            <p:cNvPr id="4" name="Agrupar 3">
              <a:extLst>
                <a:ext uri="{FF2B5EF4-FFF2-40B4-BE49-F238E27FC236}">
                  <a16:creationId xmlns:a16="http://schemas.microsoft.com/office/drawing/2014/main" id="{5E1C4B51-645A-190C-C5FA-83ED2B66464D}"/>
                </a:ext>
              </a:extLst>
            </p:cNvPr>
            <p:cNvGrpSpPr/>
            <p:nvPr/>
          </p:nvGrpSpPr>
          <p:grpSpPr>
            <a:xfrm>
              <a:off x="7470777" y="1061636"/>
              <a:ext cx="4340277" cy="3764642"/>
              <a:chOff x="7470777" y="1061636"/>
              <a:chExt cx="4340277" cy="3764642"/>
            </a:xfrm>
          </p:grpSpPr>
          <p:sp>
            <p:nvSpPr>
              <p:cNvPr id="5" name="CaixaDeTexto 4">
                <a:extLst>
                  <a:ext uri="{FF2B5EF4-FFF2-40B4-BE49-F238E27FC236}">
                    <a16:creationId xmlns:a16="http://schemas.microsoft.com/office/drawing/2014/main" id="{0399970E-9387-C0ED-B6D9-B809EA98F0ED}"/>
                  </a:ext>
                </a:extLst>
              </p:cNvPr>
              <p:cNvSpPr txBox="1"/>
              <p:nvPr/>
            </p:nvSpPr>
            <p:spPr>
              <a:xfrm>
                <a:off x="7662779" y="3966918"/>
                <a:ext cx="4148275" cy="382092"/>
              </a:xfrm>
              <a:prstGeom prst="rect">
                <a:avLst/>
              </a:prstGeom>
              <a:noFill/>
            </p:spPr>
            <p:txBody>
              <a:bodyPr wrap="square" lIns="91440" tIns="45720" rIns="91440" bIns="45720" rtlCol="0" anchor="t">
                <a:spAutoFit/>
              </a:bodyPr>
              <a:lstStyle/>
              <a:p>
                <a:pPr>
                  <a:lnSpc>
                    <a:spcPct val="150000"/>
                  </a:lnSpc>
                </a:pPr>
                <a:r>
                  <a:rPr lang="pt-BR" sz="1400" b="0" i="0" u="sng" dirty="0">
                    <a:effectLst/>
                    <a:latin typeface="Archivo" pitchFamily="2" charset="0"/>
                    <a:cs typeface="Archivo" pitchFamily="2" charset="0"/>
                  </a:rPr>
                  <a:t>abreuvinicius87@gmail.com</a:t>
                </a:r>
              </a:p>
            </p:txBody>
          </p:sp>
          <p:pic>
            <p:nvPicPr>
              <p:cNvPr id="9" name="Gráfico 8">
                <a:hlinkClick r:id="rId5"/>
                <a:extLst>
                  <a:ext uri="{FF2B5EF4-FFF2-40B4-BE49-F238E27FC236}">
                    <a16:creationId xmlns:a16="http://schemas.microsoft.com/office/drawing/2014/main" id="{CA5ED4A7-07C2-DF4F-655A-7C52EF7861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70777" y="3154895"/>
                <a:ext cx="195217" cy="195217"/>
              </a:xfrm>
              <a:prstGeom prst="rect">
                <a:avLst/>
              </a:prstGeom>
            </p:spPr>
          </p:pic>
          <p:pic>
            <p:nvPicPr>
              <p:cNvPr id="10" name="Gráfico 9">
                <a:hlinkClick r:id="rId8"/>
                <a:extLst>
                  <a:ext uri="{FF2B5EF4-FFF2-40B4-BE49-F238E27FC236}">
                    <a16:creationId xmlns:a16="http://schemas.microsoft.com/office/drawing/2014/main" id="{77071967-EBDA-6C6D-1AEC-09FD4DF9D4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70777" y="3617419"/>
                <a:ext cx="206259" cy="198893"/>
              </a:xfrm>
              <a:prstGeom prst="rect">
                <a:avLst/>
              </a:prstGeom>
            </p:spPr>
          </p:pic>
          <p:sp>
            <p:nvSpPr>
              <p:cNvPr id="11" name="Retângulo: Cantos Arredondados 10">
                <a:extLst>
                  <a:ext uri="{FF2B5EF4-FFF2-40B4-BE49-F238E27FC236}">
                    <a16:creationId xmlns:a16="http://schemas.microsoft.com/office/drawing/2014/main" id="{FE3984A5-C70C-7793-9A51-4B66607C3FDC}"/>
                  </a:ext>
                </a:extLst>
              </p:cNvPr>
              <p:cNvSpPr/>
              <p:nvPr/>
            </p:nvSpPr>
            <p:spPr>
              <a:xfrm>
                <a:off x="7470778" y="1061636"/>
                <a:ext cx="1390998" cy="1390997"/>
              </a:xfrm>
              <a:prstGeom prst="roundRect">
                <a:avLst>
                  <a:gd name="adj" fmla="val 6221"/>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latin typeface="Arial Nova" panose="020B0504020202020204" pitchFamily="34" charset="0"/>
                  </a:rPr>
                  <a:t>Inserir foto do palestrante aqui</a:t>
                </a:r>
              </a:p>
            </p:txBody>
          </p:sp>
          <p:sp>
            <p:nvSpPr>
              <p:cNvPr id="12" name="CaixaDeTexto 11">
                <a:extLst>
                  <a:ext uri="{FF2B5EF4-FFF2-40B4-BE49-F238E27FC236}">
                    <a16:creationId xmlns:a16="http://schemas.microsoft.com/office/drawing/2014/main" id="{1428FA95-8C03-3D90-3D8A-F9BCD4C5C33D}"/>
                  </a:ext>
                </a:extLst>
              </p:cNvPr>
              <p:cNvSpPr txBox="1"/>
              <p:nvPr/>
            </p:nvSpPr>
            <p:spPr>
              <a:xfrm>
                <a:off x="7662779" y="3010365"/>
                <a:ext cx="4134018" cy="382092"/>
              </a:xfrm>
              <a:prstGeom prst="rect">
                <a:avLst/>
              </a:prstGeom>
              <a:noFill/>
            </p:spPr>
            <p:txBody>
              <a:bodyPr wrap="square" lIns="91440" tIns="45720" rIns="91440" bIns="45720" rtlCol="0" anchor="t">
                <a:spAutoFit/>
              </a:bodyPr>
              <a:lstStyle/>
              <a:p>
                <a:pPr>
                  <a:lnSpc>
                    <a:spcPct val="150000"/>
                  </a:lnSpc>
                </a:pPr>
                <a:r>
                  <a:rPr lang="pt-BR" sz="1400" u="sng" dirty="0">
                    <a:latin typeface="Archivo" pitchFamily="2" charset="0"/>
                    <a:cs typeface="Archivo" pitchFamily="2" charset="0"/>
                  </a:rPr>
                  <a:t>@vinib.abreu</a:t>
                </a:r>
                <a:endParaRPr lang="pt-BR" sz="1400" b="0" i="0" u="sng" dirty="0">
                  <a:effectLst/>
                  <a:latin typeface="Archivo" pitchFamily="2" charset="0"/>
                  <a:cs typeface="Archivo" pitchFamily="2" charset="0"/>
                </a:endParaRPr>
              </a:p>
            </p:txBody>
          </p:sp>
          <p:sp>
            <p:nvSpPr>
              <p:cNvPr id="13" name="CaixaDeTexto 12">
                <a:extLst>
                  <a:ext uri="{FF2B5EF4-FFF2-40B4-BE49-F238E27FC236}">
                    <a16:creationId xmlns:a16="http://schemas.microsoft.com/office/drawing/2014/main" id="{58C22E32-2C34-6E5A-E5A8-69F2DBF7AFCA}"/>
                  </a:ext>
                </a:extLst>
              </p:cNvPr>
              <p:cNvSpPr txBox="1"/>
              <p:nvPr/>
            </p:nvSpPr>
            <p:spPr>
              <a:xfrm>
                <a:off x="7662779" y="3502353"/>
                <a:ext cx="4148275" cy="382092"/>
              </a:xfrm>
              <a:prstGeom prst="rect">
                <a:avLst/>
              </a:prstGeom>
              <a:noFill/>
            </p:spPr>
            <p:txBody>
              <a:bodyPr wrap="square" lIns="91440" tIns="45720" rIns="91440" bIns="45720" rtlCol="0" anchor="t">
                <a:spAutoFit/>
              </a:bodyPr>
              <a:lstStyle/>
              <a:p>
                <a:pPr>
                  <a:lnSpc>
                    <a:spcPct val="150000"/>
                  </a:lnSpc>
                </a:pPr>
                <a:r>
                  <a:rPr lang="pt-BR" sz="1400" u="sng" dirty="0">
                    <a:latin typeface="Archivo" pitchFamily="2" charset="0"/>
                    <a:cs typeface="Archivo" pitchFamily="2" charset="0"/>
                  </a:rPr>
                  <a:t>/</a:t>
                </a:r>
                <a:r>
                  <a:rPr lang="pt-BR" sz="1400" u="sng" dirty="0" err="1">
                    <a:latin typeface="Archivo" pitchFamily="2" charset="0"/>
                    <a:cs typeface="Archivo" pitchFamily="2" charset="0"/>
                  </a:rPr>
                  <a:t>vinicius</a:t>
                </a:r>
                <a:r>
                  <a:rPr lang="pt-BR" sz="1400" u="sng" dirty="0">
                    <a:latin typeface="Archivo" pitchFamily="2" charset="0"/>
                    <a:cs typeface="Archivo" pitchFamily="2" charset="0"/>
                  </a:rPr>
                  <a:t>-abreu-batista</a:t>
                </a:r>
                <a:endParaRPr lang="pt-BR" sz="1400" b="0" i="0" u="sng" dirty="0">
                  <a:effectLst/>
                  <a:latin typeface="Archivo" pitchFamily="2" charset="0"/>
                  <a:cs typeface="Archivo" pitchFamily="2" charset="0"/>
                </a:endParaRPr>
              </a:p>
            </p:txBody>
          </p:sp>
          <p:pic>
            <p:nvPicPr>
              <p:cNvPr id="14" name="Gráfico 13" descr="E-mail com preenchimento sólido">
                <a:extLst>
                  <a:ext uri="{FF2B5EF4-FFF2-40B4-BE49-F238E27FC236}">
                    <a16:creationId xmlns:a16="http://schemas.microsoft.com/office/drawing/2014/main" id="{827F1F1F-DBEE-32D8-10E5-1B7954707E8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470777" y="4086261"/>
                <a:ext cx="206259" cy="206259"/>
              </a:xfrm>
              <a:prstGeom prst="rect">
                <a:avLst/>
              </a:prstGeom>
            </p:spPr>
          </p:pic>
          <p:pic>
            <p:nvPicPr>
              <p:cNvPr id="15" name="Gráfico 14" descr="Smartphone com preenchimento sólido">
                <a:extLst>
                  <a:ext uri="{FF2B5EF4-FFF2-40B4-BE49-F238E27FC236}">
                    <a16:creationId xmlns:a16="http://schemas.microsoft.com/office/drawing/2014/main" id="{DA02DCE6-9479-E26D-4B9D-F0598890121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0777" y="4562469"/>
                <a:ext cx="245982" cy="245982"/>
              </a:xfrm>
              <a:prstGeom prst="rect">
                <a:avLst/>
              </a:prstGeom>
            </p:spPr>
          </p:pic>
          <p:sp>
            <p:nvSpPr>
              <p:cNvPr id="16" name="CaixaDeTexto 15">
                <a:extLst>
                  <a:ext uri="{FF2B5EF4-FFF2-40B4-BE49-F238E27FC236}">
                    <a16:creationId xmlns:a16="http://schemas.microsoft.com/office/drawing/2014/main" id="{87E593FD-D465-5E95-5EE2-F165319E6155}"/>
                  </a:ext>
                </a:extLst>
              </p:cNvPr>
              <p:cNvSpPr txBox="1"/>
              <p:nvPr/>
            </p:nvSpPr>
            <p:spPr>
              <a:xfrm>
                <a:off x="7677036" y="4449957"/>
                <a:ext cx="4126889" cy="376321"/>
              </a:xfrm>
              <a:prstGeom prst="rect">
                <a:avLst/>
              </a:prstGeom>
              <a:noFill/>
            </p:spPr>
            <p:txBody>
              <a:bodyPr wrap="square" lIns="91440" tIns="45720" rIns="91440" bIns="45720" rtlCol="0" anchor="t">
                <a:spAutoFit/>
              </a:bodyPr>
              <a:lstStyle/>
              <a:p>
                <a:pPr>
                  <a:lnSpc>
                    <a:spcPct val="150000"/>
                  </a:lnSpc>
                </a:pPr>
                <a:r>
                  <a:rPr lang="pt-BR" sz="1400" u="sng" dirty="0">
                    <a:latin typeface="Archivo" pitchFamily="2" charset="0"/>
                    <a:cs typeface="Archivo" pitchFamily="2" charset="0"/>
                  </a:rPr>
                  <a:t>(11) 9 9999 9999</a:t>
                </a:r>
                <a:endParaRPr lang="pt-BR" sz="1400" b="0" i="0" u="sng" dirty="0">
                  <a:effectLst/>
                  <a:latin typeface="Archivo" pitchFamily="2" charset="0"/>
                  <a:cs typeface="Archivo" pitchFamily="2" charset="0"/>
                </a:endParaRPr>
              </a:p>
            </p:txBody>
          </p:sp>
        </p:grpSp>
      </p:grpSp>
      <p:pic>
        <p:nvPicPr>
          <p:cNvPr id="7" name="Imagem 6" descr="Homem com óculos de sol&#10;&#10;Descrição gerada automaticamente">
            <a:extLst>
              <a:ext uri="{FF2B5EF4-FFF2-40B4-BE49-F238E27FC236}">
                <a16:creationId xmlns:a16="http://schemas.microsoft.com/office/drawing/2014/main" id="{F00E0A49-BE58-B6D3-B4E2-2375AA683E3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299326" y="1546678"/>
            <a:ext cx="1390999" cy="1390999"/>
          </a:xfrm>
          <a:prstGeom prst="rect">
            <a:avLst/>
          </a:prstGeom>
        </p:spPr>
      </p:pic>
    </p:spTree>
    <p:extLst>
      <p:ext uri="{BB962C8B-B14F-4D97-AF65-F5344CB8AC3E}">
        <p14:creationId xmlns:p14="http://schemas.microsoft.com/office/powerpoint/2010/main" val="3319711398"/>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483</TotalTime>
  <Words>1141</Words>
  <Application>Microsoft Office PowerPoint</Application>
  <PresentationFormat>Widescreen</PresentationFormat>
  <Paragraphs>109</Paragraphs>
  <Slides>22</Slides>
  <Notes>21</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22</vt:i4>
      </vt:variant>
    </vt:vector>
  </HeadingPairs>
  <TitlesOfParts>
    <vt:vector size="32" baseType="lpstr">
      <vt:lpstr>Aptos</vt:lpstr>
      <vt:lpstr>Aptos Display</vt:lpstr>
      <vt:lpstr>Archivo</vt:lpstr>
      <vt:lpstr>Arial</vt:lpstr>
      <vt:lpstr>Arial Black</vt:lpstr>
      <vt:lpstr>Arial Nova</vt:lpstr>
      <vt:lpstr>Courier New</vt:lpstr>
      <vt:lpstr>Open Sans</vt:lpstr>
      <vt:lpstr>Segoe UI</vt:lpstr>
      <vt:lpstr>Tema do Office</vt:lpstr>
      <vt:lpstr>Apresentação do PowerPoint</vt:lpstr>
      <vt:lpstr>Apresentação do PowerPoint</vt:lpstr>
      <vt:lpstr>Delphi em alta velocidade: Como acelerar seu compilador</vt:lpstr>
      <vt:lpstr>Referência</vt:lpstr>
      <vt:lpstr>Beneficios ao aplicar essas dicas</vt:lpstr>
      <vt:lpstr>Apresentação do PowerPoint</vt:lpstr>
      <vt:lpstr>Apresentação do PowerPoint</vt:lpstr>
      <vt:lpstr>Apresentação do PowerPoint</vt:lpstr>
      <vt:lpstr>Apresentação do PowerPoint</vt:lpstr>
      <vt:lpstr>Apresentação do PowerPoint</vt:lpstr>
      <vt:lpstr>Units desnecessárias</vt:lpstr>
      <vt:lpstr>Uses na Interface x Uses na Implementation</vt:lpstr>
      <vt:lpstr>Referência Circular</vt:lpstr>
      <vt:lpstr>Apresentação do PowerPoint</vt:lpstr>
      <vt:lpstr>Apresentação do PowerPoint</vt:lpstr>
      <vt:lpstr>Apresentação do PowerPoint</vt:lpstr>
      <vt:lpstr>Apresentação do PowerPoint</vt:lpstr>
      <vt:lpstr>Apresentação do PowerPoint</vt:lpstr>
      <vt:lpstr>Apresentação do PowerPoint</vt:lpstr>
      <vt:lpstr>Dúvidas ???</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Raphael Clementino da Silva</dc:creator>
  <cp:lastModifiedBy>prog_sis</cp:lastModifiedBy>
  <cp:revision>9</cp:revision>
  <dcterms:created xsi:type="dcterms:W3CDTF">2024-08-16T20:14:00Z</dcterms:created>
  <dcterms:modified xsi:type="dcterms:W3CDTF">2024-09-05T17:14:50Z</dcterms:modified>
</cp:coreProperties>
</file>