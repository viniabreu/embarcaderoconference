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333" r:id="rId4"/>
    <p:sldId id="257" r:id="rId5"/>
    <p:sldId id="331" r:id="rId6"/>
    <p:sldId id="323" r:id="rId7"/>
    <p:sldId id="324" r:id="rId8"/>
    <p:sldId id="260" r:id="rId9"/>
    <p:sldId id="325" r:id="rId10"/>
    <p:sldId id="327" r:id="rId11"/>
    <p:sldId id="326" r:id="rId12"/>
    <p:sldId id="328" r:id="rId13"/>
    <p:sldId id="329" r:id="rId14"/>
    <p:sldId id="332" r:id="rId15"/>
    <p:sldId id="261" r:id="rId16"/>
  </p:sldIdLst>
  <p:sldSz cx="18288000" cy="10287000"/>
  <p:notesSz cx="6858000" cy="9144000"/>
  <p:embeddedFontLst>
    <p:embeddedFont>
      <p:font typeface="Arial Nova" panose="020B0504020202020204" pitchFamily="34" charset="0"/>
      <p:regular r:id="rId18"/>
      <p:bold r:id="rId19"/>
      <p:italic r:id="rId20"/>
      <p:boldItalic r:id="rId21"/>
    </p:embeddedFont>
    <p:embeddedFont>
      <p:font typeface="Audiowide" panose="020B0604020202020204" charset="0"/>
      <p:regular r:id="rId22"/>
    </p:embeddedFont>
    <p:embeddedFont>
      <p:font typeface="Gabarito" panose="020B0604020202020204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Bold" panose="020B0806030504020204" charset="0"/>
      <p:regular r:id="rId28"/>
    </p:embeddedFont>
    <p:embeddedFont>
      <p:font typeface="Open Sans Italics" panose="020B0604020202020204" charset="0"/>
      <p:regular r:id="rId29"/>
    </p:embeddedFont>
    <p:embeddedFont>
      <p:font typeface="Segoe UI" panose="020B05020402040202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2518" autoAdjust="0"/>
  </p:normalViewPr>
  <p:slideViewPr>
    <p:cSldViewPr>
      <p:cViewPr varScale="1">
        <p:scale>
          <a:sx n="54" d="100"/>
          <a:sy n="54" d="100"/>
        </p:scale>
        <p:origin x="173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2D293-C93E-4B18-8AB0-23E8F9407A3E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0E7B0-4AFE-4D2C-88AF-FA7851DAF3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47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1894-3C3F-EEC4-A65F-C2E45A5E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C78CFE-3813-0EDB-96D3-17C0F4CEF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A2AB0D-A82D-C44F-EC96-439C35DC4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7D9F4E-D4CC-E7B1-1FD4-A27855EA2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86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!!!!!!!!!!!!!!!!!!!!!!!!!!!!!!!!!!!!!!!!!!!!!!!!!---------------------------------------!!!!!!!!!!!!!!!!!!!!!!!!!!!!!!!!!!!!!!!!!!!!!!!!!</a:t>
            </a:r>
          </a:p>
          <a:p>
            <a:endParaRPr lang="pt-BR" dirty="0"/>
          </a:p>
          <a:p>
            <a:r>
              <a:rPr lang="pt-BR" dirty="0"/>
              <a:t>TENTAR INTERAGIR COM O PÚBLICO</a:t>
            </a:r>
          </a:p>
          <a:p>
            <a:endParaRPr lang="pt-BR" dirty="0"/>
          </a:p>
          <a:p>
            <a:r>
              <a:rPr lang="pt-BR" dirty="0"/>
              <a:t>3 º ANO CONSECUTIVO PALESTRANDO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352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!!!!!!!!!!!!!!!!!!!!!!!!!!!!!!!!!!!!!!!!!!!!!!!!!---------------------------------------!!!!!!!!!!!!!!!!!!!!!!!!!!!!!!!!!!!!!!!!!!!!!!!!!</a:t>
            </a:r>
          </a:p>
          <a:p>
            <a:br>
              <a:rPr lang="pt-BR" dirty="0"/>
            </a:br>
            <a:r>
              <a:rPr lang="pt-BR" dirty="0"/>
              <a:t>FIORILLI – LÍDER DE MERCADO</a:t>
            </a:r>
          </a:p>
          <a:p>
            <a:endParaRPr lang="pt-BR" dirty="0"/>
          </a:p>
          <a:p>
            <a:r>
              <a:rPr lang="pt-BR" dirty="0"/>
              <a:t>VÁRIOS SETORES</a:t>
            </a:r>
          </a:p>
          <a:p>
            <a:endParaRPr lang="pt-BR" dirty="0"/>
          </a:p>
          <a:p>
            <a:r>
              <a:rPr lang="pt-BR" dirty="0"/>
              <a:t>MUITO PROVÁVELMENTE A PREFEITURA DA SUA CIDADE USA UMA SOLUÇÃO DELPHI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155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!!!!!!!!!!!!!!!!!!!!!!!!!!!!!!!!!!!!!!!!!!!!!!!!!---------------------------------------!!!!!!!!!!!!!!!!!!!!!!!!!!!!!!!!!!!!!!!!!!!!!!!!!</a:t>
            </a:r>
            <a:endParaRPr lang="pt-BR" sz="1400" dirty="0">
              <a:effectLst/>
            </a:endParaRPr>
          </a:p>
          <a:p>
            <a:endParaRPr lang="pt-BR" sz="1400" dirty="0"/>
          </a:p>
          <a:p>
            <a:r>
              <a:rPr lang="pt-BR" sz="1400" dirty="0"/>
              <a:t>QUEM AQUI JÁ SE SENTIU FRUSTRADO COM UM CÓDIGO DELPHI QUE, DO NADA, FICOU LENTO? OU JÁ PASSOU HORAS OTIMIZANDO ALGO SEM TER CERTEZA SE ERA O GARGALO PRINCIPAL?</a:t>
            </a:r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662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É JUSTAMENTE AI QUE O PROFILER ENTRA COMO UMA FERRAMENTE PODEROSA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Análise de performance da nossa aplicação em tempo de execução para identificar gargalos, como alto consumo de Memória, CPU, Vazamento de Memória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Expanda a Analogia: </a:t>
            </a:r>
            <a:r>
              <a:rPr lang="pt-BR" dirty="0"/>
              <a:t> Você pode detalhar um pouco mais: “ Pensem comigo: quando vocês sentem uma </a:t>
            </a:r>
            <a:r>
              <a:rPr lang="pt-BR" b="1" dirty="0"/>
              <a:t>dor no peito</a:t>
            </a:r>
            <a:r>
              <a:rPr lang="pt-BR" dirty="0"/>
              <a:t>, não vão direto para a cirurgia, certo? O médico pede um </a:t>
            </a:r>
            <a:r>
              <a:rPr lang="pt-BR" b="1" dirty="0"/>
              <a:t>eletrocardiograma</a:t>
            </a:r>
            <a:r>
              <a:rPr lang="pt-BR" dirty="0"/>
              <a:t>, um exame de sangue. Ele precisa de </a:t>
            </a:r>
            <a:r>
              <a:rPr lang="pt-BR" b="1" dirty="0"/>
              <a:t>dados concretos para saber ONDE está o problema</a:t>
            </a:r>
            <a:r>
              <a:rPr lang="pt-BR" dirty="0"/>
              <a:t>, qual a causa, e qual a gravidade."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863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pt-BR" dirty="0"/>
            </a:br>
            <a:r>
              <a:rPr lang="pt-BR" dirty="0"/>
              <a:t>PENSEM NO </a:t>
            </a:r>
            <a:r>
              <a:rPr lang="pt-BR" b="1" dirty="0"/>
              <a:t>SAMPLING </a:t>
            </a:r>
            <a:r>
              <a:rPr lang="pt-BR" dirty="0"/>
              <a:t>COMO UM FOTÓGRAFO QUE ESTÁ TIRANDO FOTOS DO SEU PROGRAMA EM INTERVALOS REGULARES. ELE NÃO INTERFERE NA CENA, APENAS CAPTURA O QUE ESTÁ ACONTECENDO NAQUELE EXATO MOMENTO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INSTRUMENTATION</a:t>
            </a:r>
            <a:r>
              <a:rPr lang="pt-BR" dirty="0"/>
              <a:t>: Isso nos dá dados super precisos, perfeitos para quando você já sabe onde procurar um gargalo e quer medi-lo com exatidão.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No dia a dia, muitas vezes começamos com um </a:t>
            </a:r>
            <a:r>
              <a:rPr lang="pt-BR" dirty="0" err="1"/>
              <a:t>profiler</a:t>
            </a:r>
            <a:r>
              <a:rPr lang="pt-BR" dirty="0"/>
              <a:t> de </a:t>
            </a:r>
            <a:r>
              <a:rPr lang="pt-BR" i="1" dirty="0" err="1"/>
              <a:t>sampling</a:t>
            </a:r>
            <a:r>
              <a:rPr lang="pt-BR" dirty="0"/>
              <a:t> para ter uma ideia geral, e depois usamos a </a:t>
            </a:r>
            <a:r>
              <a:rPr lang="pt-BR" i="1" dirty="0" err="1"/>
              <a:t>instrumentation</a:t>
            </a:r>
            <a:r>
              <a:rPr lang="pt-BR" dirty="0"/>
              <a:t> para investigar a fundo aquela área específica que encontramos.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Entender essas duas abordagens nos dá a base para escolher e usar as ferramentas de </a:t>
            </a:r>
            <a:r>
              <a:rPr lang="pt-BR" dirty="0" err="1"/>
              <a:t>profiling</a:t>
            </a:r>
            <a:r>
              <a:rPr lang="pt-BR" dirty="0"/>
              <a:t>. E é justamente sobre as ferramentas que vamos falar agora...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311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AGORA QUE ENTENDEMOS O QUE É PROFILING, OS TIPOS DE ABORDAGEM (SAMPLING E INSTRUMENTATION), VAMOS FALAR SOBRE AS FERRAMENTAS QUE NOS AJUDAM NESSA JORNADA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167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Vimos como ferramentas como 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TStopwatch</a:t>
            </a:r>
            <a:r>
              <a:rPr lang="pt-BR" dirty="0"/>
              <a:t> e 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Sampling Profiler</a:t>
            </a:r>
            <a:r>
              <a:rPr lang="pt-BR" dirty="0"/>
              <a:t> nos ajudam a identificar e medir gargalos. Mas o que acontece quando os problemas são mais complexos? Quando envolvem múltiplos threads, uso intenso de memória, ou interações de hardware? Para desvendar esses mistérios e otimizar seu código ao máximo, precisamos de um poder de análise maior.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739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0E7B0-4AFE-4D2C-88AF-FA7851DAF37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32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557463"/>
            <a:ext cx="13716000" cy="2707482"/>
          </a:xfrm>
        </p:spPr>
        <p:txBody>
          <a:bodyPr anchor="b">
            <a:normAutofit/>
          </a:bodyPr>
          <a:lstStyle>
            <a:lvl1pPr algn="ctr">
              <a:defRPr sz="72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900740"/>
            <a:ext cx="13716000" cy="669131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889D2-0E88-508B-18D2-0213AB2C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0" y="7181851"/>
            <a:ext cx="20574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59CAA6-FEF1-5821-864B-2CCB0238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0950" y="7181851"/>
            <a:ext cx="30861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B4DAC-BA7B-2A0C-AB7B-1C0F6D7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44600" y="7181851"/>
            <a:ext cx="20574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A4DFDC96-A3D0-5832-1186-E5CB7C788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96183" y="1873249"/>
            <a:ext cx="2037956" cy="203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83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Slide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200276"/>
            <a:ext cx="12468687" cy="3064670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2" y="6525817"/>
            <a:ext cx="5117976" cy="120014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889D2-0E88-508B-18D2-0213AB2C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59CAA6-FEF1-5821-864B-2CCB0238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B4DAC-BA7B-2A0C-AB7B-1C0F6D7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8D1D7B7F-7D07-B199-F128-CF11E3C0629E}"/>
              </a:ext>
            </a:extLst>
          </p:cNvPr>
          <p:cNvSpPr txBox="1">
            <a:spLocks/>
          </p:cNvSpPr>
          <p:nvPr userDrawn="1"/>
        </p:nvSpPr>
        <p:spPr>
          <a:xfrm>
            <a:off x="2285999" y="5978129"/>
            <a:ext cx="8158163" cy="547688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i="1" dirty="0">
                <a:solidFill>
                  <a:srgbClr val="F7505A"/>
                </a:solidFill>
              </a:rPr>
              <a:t>{ </a:t>
            </a:r>
            <a:r>
              <a:rPr lang="pt-BR" sz="2400" b="1" i="1" dirty="0">
                <a:solidFill>
                  <a:schemeClr val="bg1"/>
                </a:solidFill>
              </a:rPr>
              <a:t>Palestrante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B3B6D641-F39F-FC09-AD5A-A19A9DF970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23827" y="2111539"/>
            <a:ext cx="2037956" cy="2037956"/>
          </a:xfrm>
          <a:prstGeom prst="rect">
            <a:avLst/>
          </a:prstGeom>
        </p:spPr>
      </p:pic>
      <p:pic>
        <p:nvPicPr>
          <p:cNvPr id="13" name="Imagem 12" descr="Uma imagem contendo quarto, cena, placa, em pé&#10;&#10;Descrição gerada automaticamente">
            <a:extLst>
              <a:ext uri="{FF2B5EF4-FFF2-40B4-BE49-F238E27FC236}">
                <a16:creationId xmlns:a16="http://schemas.microsoft.com/office/drawing/2014/main" id="{FA2A4D3D-DE65-50C9-85E1-F15D7CB375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61782" y="7303262"/>
            <a:ext cx="1350543" cy="135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64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>
            <a:normAutofit/>
          </a:bodyPr>
          <a:lstStyle>
            <a:lvl1pPr algn="l">
              <a:defRPr sz="7200" b="1">
                <a:latin typeface="Arial Nova" panose="020B05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l">
              <a:buNone/>
              <a:defRPr sz="3600">
                <a:latin typeface="Arial Nova" panose="020B05040202020202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889D2-0E88-508B-18D2-0213AB2C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0" y="8882017"/>
            <a:ext cx="20574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59CAA6-FEF1-5821-864B-2CCB0238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0950" y="8882017"/>
            <a:ext cx="30861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B4DAC-BA7B-2A0C-AB7B-1C0F6D7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44600" y="8882017"/>
            <a:ext cx="20574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230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 b="1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76D25C2-6998-E029-1EC0-6834E430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0" y="8882017"/>
            <a:ext cx="20574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7E43CCFC-D2D3-DB8C-1142-21CC784D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0950" y="8882017"/>
            <a:ext cx="30861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C0501D3E-FABA-EBB1-F106-226957F4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44600" y="8882017"/>
            <a:ext cx="2057400" cy="54768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509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2148C-5FD5-8D04-DF52-0B901698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D1A90-FFC4-A131-9FF8-A4EF81F59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EA5A00-5C95-798F-AC1C-500770EB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720-73C0-40F0-BCD8-607D2ED0760F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F1AD8-F31A-8ED6-1DCB-1F619FB2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9FFCC-FDA4-E12C-C043-9C25EC13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E2FC-EA92-4381-B530-60868151A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87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26DC9-42F1-0E1A-4BDC-EA07204E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1748440"/>
            <a:ext cx="15773400" cy="1104299"/>
          </a:xfrm>
        </p:spPr>
        <p:txBody>
          <a:bodyPr anchor="b">
            <a:normAutofit/>
          </a:bodyPr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09F03A-4A6F-047E-C721-8245DEC3D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3399246"/>
            <a:ext cx="7461219" cy="403501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E03B9B-8428-071D-6BA2-54EF8651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8264717"/>
            <a:ext cx="4114800" cy="5476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1CC5720-73C0-40F0-BCD8-607D2ED0760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AA6B1D-2B0F-8DBD-EA88-58A0EB4A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8264717"/>
            <a:ext cx="6172200" cy="5476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408A9-A228-4049-B40C-1D3A6909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8264717"/>
            <a:ext cx="4114800" cy="5476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90D72194-6894-74DA-5288-00629C01708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559956" y="3399246"/>
            <a:ext cx="7461219" cy="403501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7076377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26DC9-42F1-0E1A-4BDC-EA07204E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1748440"/>
            <a:ext cx="15773400" cy="1104299"/>
          </a:xfrm>
        </p:spPr>
        <p:txBody>
          <a:bodyPr anchor="b">
            <a:normAutofit/>
          </a:bodyPr>
          <a:lstStyle>
            <a:lvl1pPr>
              <a:defRPr sz="54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09F03A-4A6F-047E-C721-8245DEC3D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3399246"/>
            <a:ext cx="7461219" cy="403501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E03B9B-8428-071D-6BA2-54EF8651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720-73C0-40F0-BCD8-607D2ED0760F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AA6B1D-2B0F-8DBD-EA88-58A0EB4A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408A9-A228-4049-B40C-1D3A6909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E2FC-EA92-4381-B530-60868151A94D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90D72194-6894-74DA-5288-00629C01708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559956" y="3399246"/>
            <a:ext cx="7461219" cy="403501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05303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386D2-0557-6955-D54D-27727C593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1481137"/>
            <a:ext cx="5898356" cy="2105027"/>
          </a:xfrm>
        </p:spPr>
        <p:txBody>
          <a:bodyPr anchor="b"/>
          <a:lstStyle>
            <a:lvl1pPr>
              <a:defRPr sz="48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CCAC28-6D2B-A20E-0EA9-E2D18DFBB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9"/>
            <a:ext cx="9258300" cy="5262564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9F239-3A28-CB59-372F-906151689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871913"/>
            <a:ext cx="5898356" cy="2871789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6AF1EA-415C-FB9E-8C2C-D76A3B64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720-73C0-40F0-BCD8-607D2ED0760F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37D1C-2640-BC58-F805-EA131476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ABFC71-996A-A4D6-72F3-7FBCC674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E2FC-EA92-4381-B530-60868151A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19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94F9CD-AAE7-82FC-9048-A0AE959C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891DCA-B952-516B-B4D2-CDDC96C1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4362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F5B4F0-90E4-E25F-91C5-99367C8E5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730329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7263D1-9A90-355E-4369-44EEBBD83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7303294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3B777B-2DD4-C305-23ED-6DC01FEB4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730329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49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9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9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-731721"/>
            <a:ext cx="18288000" cy="10176588"/>
          </a:xfrm>
          <a:custGeom>
            <a:avLst/>
            <a:gdLst/>
            <a:ahLst/>
            <a:cxnLst/>
            <a:rect l="l" t="t" r="r" b="b"/>
            <a:pathLst>
              <a:path w="18288000" h="10176588">
                <a:moveTo>
                  <a:pt x="0" y="0"/>
                </a:moveTo>
                <a:lnTo>
                  <a:pt x="18288000" y="0"/>
                </a:lnTo>
                <a:lnTo>
                  <a:pt x="18288000" y="10176588"/>
                </a:lnTo>
                <a:lnTo>
                  <a:pt x="0" y="1017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72" r="-2372" b="-588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028700" y="2471339"/>
            <a:ext cx="2962214" cy="525793"/>
          </a:xfrm>
          <a:custGeom>
            <a:avLst/>
            <a:gdLst/>
            <a:ahLst/>
            <a:cxnLst/>
            <a:rect l="l" t="t" r="r" b="b"/>
            <a:pathLst>
              <a:path w="2962214" h="525793">
                <a:moveTo>
                  <a:pt x="0" y="0"/>
                </a:moveTo>
                <a:lnTo>
                  <a:pt x="2962214" y="0"/>
                </a:lnTo>
                <a:lnTo>
                  <a:pt x="2962214" y="525793"/>
                </a:lnTo>
                <a:lnTo>
                  <a:pt x="0" y="525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28700" y="3149532"/>
            <a:ext cx="10185799" cy="337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88"/>
              </a:lnSpc>
            </a:pPr>
            <a:r>
              <a:rPr lang="en-US" sz="8615">
                <a:solidFill>
                  <a:srgbClr val="C907C9"/>
                </a:solidFill>
                <a:latin typeface="Audiowide"/>
                <a:ea typeface="Audiowide"/>
                <a:cs typeface="Audiowide"/>
                <a:sym typeface="Audiowide"/>
              </a:rPr>
              <a:t>EMBARCADERO</a:t>
            </a:r>
          </a:p>
          <a:p>
            <a:pPr algn="l">
              <a:lnSpc>
                <a:spcPts val="8788"/>
              </a:lnSpc>
            </a:pPr>
            <a:r>
              <a:rPr lang="en-US" sz="8615">
                <a:solidFill>
                  <a:srgbClr val="C907C9"/>
                </a:solidFill>
                <a:latin typeface="Audiowide"/>
                <a:ea typeface="Audiowide"/>
                <a:cs typeface="Audiowide"/>
                <a:sym typeface="Audiowide"/>
              </a:rPr>
              <a:t>CONFERENCE 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968695"/>
            <a:ext cx="10185799" cy="5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2"/>
              </a:lnSpc>
            </a:pPr>
            <a:r>
              <a:rPr lang="en-US" sz="3502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A JORNADA DO HERÓI</a:t>
            </a:r>
            <a:r>
              <a:rPr lang="en-US" sz="3502">
                <a:solidFill>
                  <a:srgbClr val="C907C9"/>
                </a:solidFill>
                <a:latin typeface="Gabarito"/>
                <a:ea typeface="Gabarito"/>
                <a:cs typeface="Gabarito"/>
                <a:sym typeface="Gabarito"/>
              </a:rPr>
              <a:t> | </a:t>
            </a:r>
            <a:r>
              <a:rPr lang="en-US" sz="3502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30 ANOS DE INOVAÇÃO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5AD0-E97E-55FC-CF34-DF4935E7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611778-5EA0-43D7-0027-A917AAA8AD5A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3F81DB-73F8-0C57-901D-69A66A0730C0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DED2FB-1809-D118-2526-84E49083EE91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4549D13-ED2D-9757-8AA1-5CDF50470FFD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94D6CB-FC46-DB5D-2F3B-261BCA19E43F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1BA86F4-8A13-C952-DFE7-1AAA1B3C16D2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F6BD069-61BB-3C77-0910-69CCE315CDD8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912FD50A-BD10-39DC-A62D-52ED84EBF9BC}"/>
              </a:ext>
            </a:extLst>
          </p:cNvPr>
          <p:cNvGrpSpPr/>
          <p:nvPr/>
        </p:nvGrpSpPr>
        <p:grpSpPr>
          <a:xfrm>
            <a:off x="11091029" y="1280959"/>
            <a:ext cx="3042004" cy="3375005"/>
            <a:chOff x="0" y="0"/>
            <a:chExt cx="1018331" cy="112980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582079F-D1F2-EF5D-CFA8-7CBAFDBFF583}"/>
                </a:ext>
              </a:extLst>
            </p:cNvPr>
            <p:cNvSpPr/>
            <p:nvPr/>
          </p:nvSpPr>
          <p:spPr>
            <a:xfrm>
              <a:off x="0" y="0"/>
              <a:ext cx="1018331" cy="1129805"/>
            </a:xfrm>
            <a:custGeom>
              <a:avLst/>
              <a:gdLst/>
              <a:ahLst/>
              <a:cxnLst/>
              <a:rect l="l" t="t" r="r" b="b"/>
              <a:pathLst>
                <a:path w="1018331" h="1129805">
                  <a:moveTo>
                    <a:pt x="58535" y="0"/>
                  </a:moveTo>
                  <a:lnTo>
                    <a:pt x="959796" y="0"/>
                  </a:lnTo>
                  <a:cubicBezTo>
                    <a:pt x="975320" y="0"/>
                    <a:pt x="990209" y="6167"/>
                    <a:pt x="1001186" y="17145"/>
                  </a:cubicBezTo>
                  <a:cubicBezTo>
                    <a:pt x="1012164" y="28122"/>
                    <a:pt x="1018331" y="43011"/>
                    <a:pt x="1018331" y="58535"/>
                  </a:cubicBezTo>
                  <a:lnTo>
                    <a:pt x="1018331" y="1071270"/>
                  </a:lnTo>
                  <a:cubicBezTo>
                    <a:pt x="1018331" y="1086795"/>
                    <a:pt x="1012164" y="1101683"/>
                    <a:pt x="1001186" y="1112661"/>
                  </a:cubicBezTo>
                  <a:cubicBezTo>
                    <a:pt x="990209" y="1123638"/>
                    <a:pt x="975320" y="1129805"/>
                    <a:pt x="959796" y="1129805"/>
                  </a:cubicBezTo>
                  <a:lnTo>
                    <a:pt x="58535" y="1129805"/>
                  </a:lnTo>
                  <a:cubicBezTo>
                    <a:pt x="43011" y="1129805"/>
                    <a:pt x="28122" y="1123638"/>
                    <a:pt x="17145" y="1112661"/>
                  </a:cubicBezTo>
                  <a:cubicBezTo>
                    <a:pt x="6167" y="1101683"/>
                    <a:pt x="0" y="1086795"/>
                    <a:pt x="0" y="1071270"/>
                  </a:cubicBezTo>
                  <a:lnTo>
                    <a:pt x="0" y="58535"/>
                  </a:lnTo>
                  <a:cubicBezTo>
                    <a:pt x="0" y="43011"/>
                    <a:pt x="6167" y="28122"/>
                    <a:pt x="17145" y="17145"/>
                  </a:cubicBezTo>
                  <a:cubicBezTo>
                    <a:pt x="28122" y="6167"/>
                    <a:pt x="43011" y="0"/>
                    <a:pt x="58535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2B326E9A-068E-EF6B-BA30-77AE34F94533}"/>
              </a:ext>
            </a:extLst>
          </p:cNvPr>
          <p:cNvSpPr/>
          <p:nvPr/>
        </p:nvSpPr>
        <p:spPr>
          <a:xfrm>
            <a:off x="1028700" y="1280959"/>
            <a:ext cx="2099880" cy="372729"/>
          </a:xfrm>
          <a:custGeom>
            <a:avLst/>
            <a:gdLst/>
            <a:ahLst/>
            <a:cxnLst/>
            <a:rect l="l" t="t" r="r" b="b"/>
            <a:pathLst>
              <a:path w="2099880" h="372729">
                <a:moveTo>
                  <a:pt x="0" y="0"/>
                </a:moveTo>
                <a:lnTo>
                  <a:pt x="2099880" y="0"/>
                </a:lnTo>
                <a:lnTo>
                  <a:pt x="2099880" y="372729"/>
                </a:lnTo>
                <a:lnTo>
                  <a:pt x="0" y="372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DF6938D-A638-B5A4-C02C-F6A41151B982}"/>
              </a:ext>
            </a:extLst>
          </p:cNvPr>
          <p:cNvGrpSpPr/>
          <p:nvPr/>
        </p:nvGrpSpPr>
        <p:grpSpPr>
          <a:xfrm>
            <a:off x="1028700" y="4962331"/>
            <a:ext cx="3491711" cy="3375005"/>
            <a:chOff x="0" y="0"/>
            <a:chExt cx="1168874" cy="112980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112369C-76E5-9835-0EF2-9583D70E9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168874" cy="1129805"/>
            </a:xfrm>
            <a:custGeom>
              <a:avLst/>
              <a:gdLst/>
              <a:ahLst/>
              <a:cxnLst/>
              <a:rect l="l" t="t" r="r" b="b"/>
              <a:pathLst>
                <a:path w="1168874" h="1129805">
                  <a:moveTo>
                    <a:pt x="110861" y="0"/>
                  </a:moveTo>
                  <a:lnTo>
                    <a:pt x="1058012" y="0"/>
                  </a:lnTo>
                  <a:cubicBezTo>
                    <a:pt x="1087415" y="0"/>
                    <a:pt x="1115613" y="11680"/>
                    <a:pt x="1136403" y="32471"/>
                  </a:cubicBezTo>
                  <a:cubicBezTo>
                    <a:pt x="1157194" y="53261"/>
                    <a:pt x="1168874" y="81459"/>
                    <a:pt x="1168874" y="110861"/>
                  </a:cubicBezTo>
                  <a:lnTo>
                    <a:pt x="1168874" y="1018944"/>
                  </a:lnTo>
                  <a:cubicBezTo>
                    <a:pt x="1168874" y="1048346"/>
                    <a:pt x="1157194" y="1076544"/>
                    <a:pt x="1136403" y="1097335"/>
                  </a:cubicBezTo>
                  <a:cubicBezTo>
                    <a:pt x="1115613" y="1118125"/>
                    <a:pt x="1087415" y="1129805"/>
                    <a:pt x="1058012" y="1129805"/>
                  </a:cubicBezTo>
                  <a:lnTo>
                    <a:pt x="110861" y="1129805"/>
                  </a:lnTo>
                  <a:cubicBezTo>
                    <a:pt x="81459" y="1129805"/>
                    <a:pt x="53261" y="1118125"/>
                    <a:pt x="32471" y="1097335"/>
                  </a:cubicBezTo>
                  <a:cubicBezTo>
                    <a:pt x="11680" y="1076544"/>
                    <a:pt x="0" y="1048346"/>
                    <a:pt x="0" y="1018944"/>
                  </a:cubicBezTo>
                  <a:lnTo>
                    <a:pt x="0" y="110861"/>
                  </a:lnTo>
                  <a:cubicBezTo>
                    <a:pt x="0" y="81459"/>
                    <a:pt x="11680" y="53261"/>
                    <a:pt x="32471" y="32471"/>
                  </a:cubicBezTo>
                  <a:cubicBezTo>
                    <a:pt x="53261" y="11680"/>
                    <a:pt x="81459" y="0"/>
                    <a:pt x="110861" y="0"/>
                  </a:cubicBezTo>
                  <a:close/>
                </a:path>
              </a:pathLst>
            </a:custGeom>
            <a:blipFill>
              <a:blip r:embed="rId5"/>
              <a:stretch>
                <a:fillRect t="-1728" b="-172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C7A54EC-FDAC-4CC8-8656-298A9F0E4C25}"/>
              </a:ext>
            </a:extLst>
          </p:cNvPr>
          <p:cNvSpPr/>
          <p:nvPr/>
        </p:nvSpPr>
        <p:spPr>
          <a:xfrm>
            <a:off x="11091029" y="5864505"/>
            <a:ext cx="378159" cy="378159"/>
          </a:xfrm>
          <a:custGeom>
            <a:avLst/>
            <a:gdLst/>
            <a:ahLst/>
            <a:cxnLst/>
            <a:rect l="l" t="t" r="r" b="b"/>
            <a:pathLst>
              <a:path w="378159" h="378159">
                <a:moveTo>
                  <a:pt x="0" y="0"/>
                </a:moveTo>
                <a:lnTo>
                  <a:pt x="378159" y="0"/>
                </a:lnTo>
                <a:lnTo>
                  <a:pt x="378159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522F0B1-89EB-525C-AB34-3BDA90C338DE}"/>
              </a:ext>
            </a:extLst>
          </p:cNvPr>
          <p:cNvSpPr/>
          <p:nvPr/>
        </p:nvSpPr>
        <p:spPr>
          <a:xfrm>
            <a:off x="11091029" y="6573720"/>
            <a:ext cx="378159" cy="378159"/>
          </a:xfrm>
          <a:custGeom>
            <a:avLst/>
            <a:gdLst/>
            <a:ahLst/>
            <a:cxnLst/>
            <a:rect l="l" t="t" r="r" b="b"/>
            <a:pathLst>
              <a:path w="378159" h="378159">
                <a:moveTo>
                  <a:pt x="0" y="0"/>
                </a:moveTo>
                <a:lnTo>
                  <a:pt x="378159" y="0"/>
                </a:lnTo>
                <a:lnTo>
                  <a:pt x="378159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7F7C044-F51D-CC91-B9E1-0D9DD24F7253}"/>
              </a:ext>
            </a:extLst>
          </p:cNvPr>
          <p:cNvSpPr/>
          <p:nvPr/>
        </p:nvSpPr>
        <p:spPr>
          <a:xfrm>
            <a:off x="11084263" y="7282935"/>
            <a:ext cx="391690" cy="378159"/>
          </a:xfrm>
          <a:custGeom>
            <a:avLst/>
            <a:gdLst/>
            <a:ahLst/>
            <a:cxnLst/>
            <a:rect l="l" t="t" r="r" b="b"/>
            <a:pathLst>
              <a:path w="391690" h="378159">
                <a:moveTo>
                  <a:pt x="0" y="0"/>
                </a:moveTo>
                <a:lnTo>
                  <a:pt x="391691" y="0"/>
                </a:lnTo>
                <a:lnTo>
                  <a:pt x="391691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3F51AF4-EEF1-D258-8550-2F9A1AB76124}"/>
              </a:ext>
            </a:extLst>
          </p:cNvPr>
          <p:cNvSpPr/>
          <p:nvPr/>
        </p:nvSpPr>
        <p:spPr>
          <a:xfrm>
            <a:off x="11094811" y="7992150"/>
            <a:ext cx="370596" cy="378159"/>
          </a:xfrm>
          <a:custGeom>
            <a:avLst/>
            <a:gdLst/>
            <a:ahLst/>
            <a:cxnLst/>
            <a:rect l="l" t="t" r="r" b="b"/>
            <a:pathLst>
              <a:path w="370596" h="378159">
                <a:moveTo>
                  <a:pt x="0" y="0"/>
                </a:moveTo>
                <a:lnTo>
                  <a:pt x="370595" y="0"/>
                </a:lnTo>
                <a:lnTo>
                  <a:pt x="370595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54064AF-144B-1487-77F4-F7EF26528911}"/>
              </a:ext>
            </a:extLst>
          </p:cNvPr>
          <p:cNvSpPr txBox="1"/>
          <p:nvPr/>
        </p:nvSpPr>
        <p:spPr>
          <a:xfrm>
            <a:off x="11487656" y="2222344"/>
            <a:ext cx="2248750" cy="149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3"/>
              </a:lnSpc>
            </a:pPr>
            <a:r>
              <a:rPr lang="en-US" sz="249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Inserir</a:t>
            </a:r>
            <a:endParaRPr lang="en-US" sz="249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>
              <a:lnSpc>
                <a:spcPts val="2943"/>
              </a:lnSpc>
            </a:pPr>
            <a:r>
              <a:rPr lang="en-US" sz="2494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foto</a:t>
            </a:r>
            <a:r>
              <a:rPr lang="en-US" sz="2494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</a:t>
            </a:r>
          </a:p>
          <a:p>
            <a:pPr marL="0" lvl="0" indent="0" algn="ctr">
              <a:lnSpc>
                <a:spcPts val="2943"/>
              </a:lnSpc>
            </a:pPr>
            <a:r>
              <a:rPr lang="en-US" sz="2494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palestrante</a:t>
            </a:r>
            <a:endParaRPr lang="en-US" sz="2494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>
              <a:lnSpc>
                <a:spcPts val="2943"/>
              </a:lnSpc>
            </a:pPr>
            <a:r>
              <a:rPr lang="en-US" sz="2494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aqui</a:t>
            </a:r>
            <a:endParaRPr lang="en-US" sz="2494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AC4312E-362C-7EBC-CD96-FC7DD3E4BD1F}"/>
              </a:ext>
            </a:extLst>
          </p:cNvPr>
          <p:cNvSpPr txBox="1"/>
          <p:nvPr/>
        </p:nvSpPr>
        <p:spPr>
          <a:xfrm>
            <a:off x="11091029" y="5029006"/>
            <a:ext cx="6168271" cy="51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389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Vinicius de Abreu Batista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7B74C3-AB61-7259-C091-F2511E23698C}"/>
              </a:ext>
            </a:extLst>
          </p:cNvPr>
          <p:cNvSpPr txBox="1"/>
          <p:nvPr/>
        </p:nvSpPr>
        <p:spPr>
          <a:xfrm>
            <a:off x="1028700" y="1758463"/>
            <a:ext cx="8862029" cy="160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9"/>
              </a:lnSpc>
            </a:pPr>
            <a:r>
              <a:rPr lang="en-US" sz="6107">
                <a:solidFill>
                  <a:srgbClr val="C907C9"/>
                </a:solidFill>
                <a:latin typeface="Audiowide"/>
                <a:ea typeface="Audiowide"/>
                <a:cs typeface="Audiowide"/>
                <a:sym typeface="Audiowide"/>
              </a:rPr>
              <a:t>EMBARCADERO</a:t>
            </a:r>
          </a:p>
          <a:p>
            <a:pPr algn="l">
              <a:lnSpc>
                <a:spcPts val="6229"/>
              </a:lnSpc>
            </a:pPr>
            <a:r>
              <a:rPr lang="en-US" sz="6107">
                <a:solidFill>
                  <a:srgbClr val="C907C9"/>
                </a:solidFill>
                <a:latin typeface="Audiowide"/>
                <a:ea typeface="Audiowide"/>
                <a:cs typeface="Audiowide"/>
                <a:sym typeface="Audiowide"/>
              </a:rPr>
              <a:t>CONFERENCE 2025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0551C46-CCAE-1B23-3AA2-5589A7A43907}"/>
              </a:ext>
            </a:extLst>
          </p:cNvPr>
          <p:cNvSpPr txBox="1"/>
          <p:nvPr/>
        </p:nvSpPr>
        <p:spPr>
          <a:xfrm>
            <a:off x="1028700" y="3525421"/>
            <a:ext cx="8862029" cy="46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5"/>
              </a:lnSpc>
            </a:pPr>
            <a:r>
              <a:rPr lang="en-US" sz="3047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A JORNADA DO HERÓI</a:t>
            </a:r>
            <a:r>
              <a:rPr lang="en-US" sz="3047">
                <a:solidFill>
                  <a:srgbClr val="C907C9"/>
                </a:solidFill>
                <a:latin typeface="Gabarito"/>
                <a:ea typeface="Gabarito"/>
                <a:cs typeface="Gabarito"/>
                <a:sym typeface="Gabarito"/>
              </a:rPr>
              <a:t> | </a:t>
            </a:r>
            <a:r>
              <a:rPr lang="en-US" sz="3047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30 ANOS DE INOVAÇÃO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F5284C8-8685-5AD8-172E-3A158DC28449}"/>
              </a:ext>
            </a:extLst>
          </p:cNvPr>
          <p:cNvSpPr txBox="1"/>
          <p:nvPr/>
        </p:nvSpPr>
        <p:spPr>
          <a:xfrm>
            <a:off x="4914648" y="5648608"/>
            <a:ext cx="4571344" cy="199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Quer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me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na</a:t>
            </a:r>
          </a:p>
          <a:p>
            <a:pPr algn="l">
              <a:lnSpc>
                <a:spcPts val="5347"/>
              </a:lnSpc>
            </a:pPr>
            <a:r>
              <a:rPr lang="en-US" sz="4383" b="1" dirty="0">
                <a:solidFill>
                  <a:srgbClr val="C907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#ECON26?</a:t>
            </a:r>
          </a:p>
          <a:p>
            <a:pPr algn="l">
              <a:lnSpc>
                <a:spcPts val="3517"/>
              </a:lnSpc>
            </a:pP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Acesse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QRCode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avalie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minha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palestra!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157F6-9DA7-13A1-AAC9-23B51BA66B50}"/>
              </a:ext>
            </a:extLst>
          </p:cNvPr>
          <p:cNvSpPr txBox="1"/>
          <p:nvPr/>
        </p:nvSpPr>
        <p:spPr>
          <a:xfrm>
            <a:off x="11828049" y="5889477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@vini.b.abreu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68CB295-5634-D91F-A67B-2D36E14CD81C}"/>
              </a:ext>
            </a:extLst>
          </p:cNvPr>
          <p:cNvSpPr txBox="1"/>
          <p:nvPr/>
        </p:nvSpPr>
        <p:spPr>
          <a:xfrm>
            <a:off x="11828049" y="6598692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4"/>
              </a:lnSpc>
            </a:pPr>
            <a:r>
              <a:rPr lang="en-US" sz="2690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vinicius-abreu-batista</a:t>
            </a:r>
            <a:endParaRPr lang="en-US" sz="2690" i="1" dirty="0">
              <a:solidFill>
                <a:srgbClr val="FFFFFF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C78FF59-34C4-D8A7-D68A-2BF497FA40AF}"/>
              </a:ext>
            </a:extLst>
          </p:cNvPr>
          <p:cNvSpPr txBox="1"/>
          <p:nvPr/>
        </p:nvSpPr>
        <p:spPr>
          <a:xfrm>
            <a:off x="11828049" y="7307907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abreuvinicius87@gmail.com</a:t>
            </a:r>
          </a:p>
        </p:txBody>
      </p:sp>
      <p:grpSp>
        <p:nvGrpSpPr>
          <p:cNvPr id="27" name="Group 12">
            <a:extLst>
              <a:ext uri="{FF2B5EF4-FFF2-40B4-BE49-F238E27FC236}">
                <a16:creationId xmlns:a16="http://schemas.microsoft.com/office/drawing/2014/main" id="{AD5208A8-0689-5999-D43B-4689D9783AEA}"/>
              </a:ext>
            </a:extLst>
          </p:cNvPr>
          <p:cNvGrpSpPr/>
          <p:nvPr/>
        </p:nvGrpSpPr>
        <p:grpSpPr>
          <a:xfrm>
            <a:off x="1028696" y="4957568"/>
            <a:ext cx="3491711" cy="3375005"/>
            <a:chOff x="0" y="0"/>
            <a:chExt cx="1168874" cy="1129805"/>
          </a:xfrm>
        </p:grpSpPr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C7A59CAA-961C-0061-C3E9-CA2918607B7D}"/>
                </a:ext>
              </a:extLst>
            </p:cNvPr>
            <p:cNvSpPr/>
            <p:nvPr/>
          </p:nvSpPr>
          <p:spPr>
            <a:xfrm>
              <a:off x="0" y="0"/>
              <a:ext cx="1168874" cy="1129805"/>
            </a:xfrm>
            <a:custGeom>
              <a:avLst/>
              <a:gdLst/>
              <a:ahLst/>
              <a:cxnLst/>
              <a:rect l="l" t="t" r="r" b="b"/>
              <a:pathLst>
                <a:path w="1168874" h="1129805">
                  <a:moveTo>
                    <a:pt x="44345" y="0"/>
                  </a:moveTo>
                  <a:lnTo>
                    <a:pt x="1124529" y="0"/>
                  </a:lnTo>
                  <a:cubicBezTo>
                    <a:pt x="1149020" y="0"/>
                    <a:pt x="1168874" y="19854"/>
                    <a:pt x="1168874" y="44345"/>
                  </a:cubicBezTo>
                  <a:lnTo>
                    <a:pt x="1168874" y="1085461"/>
                  </a:lnTo>
                  <a:cubicBezTo>
                    <a:pt x="1168874" y="1109952"/>
                    <a:pt x="1149020" y="1129805"/>
                    <a:pt x="1124529" y="1129805"/>
                  </a:cubicBezTo>
                  <a:lnTo>
                    <a:pt x="44345" y="1129805"/>
                  </a:lnTo>
                  <a:cubicBezTo>
                    <a:pt x="19854" y="1129805"/>
                    <a:pt x="0" y="1109952"/>
                    <a:pt x="0" y="1085461"/>
                  </a:cubicBezTo>
                  <a:lnTo>
                    <a:pt x="0" y="44345"/>
                  </a:lnTo>
                  <a:cubicBezTo>
                    <a:pt x="0" y="19854"/>
                    <a:pt x="19854" y="0"/>
                    <a:pt x="44345" y="0"/>
                  </a:cubicBezTo>
                  <a:close/>
                </a:path>
              </a:pathLst>
            </a:custGeom>
            <a:blipFill>
              <a:blip r:embed="rId14"/>
              <a:stretch>
                <a:fillRect t="-1728" b="-172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9" name="Imagem 28">
            <a:extLst>
              <a:ext uri="{FF2B5EF4-FFF2-40B4-BE49-F238E27FC236}">
                <a16:creationId xmlns:a16="http://schemas.microsoft.com/office/drawing/2014/main" id="{B770678B-E852-1DD9-2490-69EC86112F4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" r="4813"/>
          <a:stretch/>
        </p:blipFill>
        <p:spPr>
          <a:xfrm>
            <a:off x="10906514" y="1053618"/>
            <a:ext cx="3329971" cy="36846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528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9" name="Group 9"/>
          <p:cNvGrpSpPr/>
          <p:nvPr/>
        </p:nvGrpSpPr>
        <p:grpSpPr>
          <a:xfrm>
            <a:off x="1028700" y="2681052"/>
            <a:ext cx="70183" cy="806351"/>
            <a:chOff x="0" y="0"/>
            <a:chExt cx="18484" cy="2123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84" cy="212372"/>
            </a:xfrm>
            <a:custGeom>
              <a:avLst/>
              <a:gdLst/>
              <a:ahLst/>
              <a:cxnLst/>
              <a:rect l="l" t="t" r="r" b="b"/>
              <a:pathLst>
                <a:path w="18484" h="212372">
                  <a:moveTo>
                    <a:pt x="0" y="0"/>
                  </a:moveTo>
                  <a:lnTo>
                    <a:pt x="18484" y="0"/>
                  </a:lnTo>
                  <a:lnTo>
                    <a:pt x="18484" y="212372"/>
                  </a:lnTo>
                  <a:lnTo>
                    <a:pt x="0" y="212372"/>
                  </a:ln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484" cy="250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143000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  <a:latin typeface="Audiowide"/>
                <a:ea typeface="Audiowide"/>
                <a:cs typeface="Audiowide"/>
                <a:sym typeface="Audiowide"/>
              </a:rPr>
              <a:t>ADEUS, CÓDIGO LENTO! FERRAMENTAS E TÉCNICAS DE PROFILING PARA TURBINAR SUAS APLICAÇÕES DELPHI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6943" y="2812962"/>
            <a:ext cx="14525773" cy="54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41"/>
              </a:lnSpc>
            </a:pPr>
            <a:r>
              <a:rPr lang="en-US" sz="3594" dirty="0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VINICIUS ABREU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184035"/>
            <a:ext cx="14525773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1"/>
              </a:lnSpc>
            </a:pPr>
            <a:r>
              <a:rPr lang="pt-BR" sz="359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Cansado de lidar com aplicações Delphi lentas? Nesta palestra, você vai mergulhar em ferramentas e técnicas de Code Profiling, aprendendo a identificar gargalos, analisar e otimizar seu código para alcançar alta performance e eficiência.</a:t>
            </a:r>
            <a:endParaRPr lang="en-US" sz="359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1151586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 u="sng" dirty="0"/>
          </a:p>
        </p:txBody>
      </p:sp>
      <p:sp>
        <p:nvSpPr>
          <p:cNvPr id="10" name="TextBox 10"/>
          <p:cNvSpPr txBox="1"/>
          <p:nvPr/>
        </p:nvSpPr>
        <p:spPr>
          <a:xfrm>
            <a:off x="4750956" y="2226888"/>
            <a:ext cx="12927445" cy="2451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Graduado em Gestão Financeira.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Desenvolvedor software há mais de 6 anos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Organizador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 Delphi Noroeste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Paulista</a:t>
            </a:r>
            <a:endParaRPr lang="en-US"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sym typeface="Open Sans"/>
              </a:rPr>
              <a:t>Atualmente</a:t>
            </a:r>
            <a:r>
              <a:rPr lang="en-US" sz="2800" dirty="0">
                <a:sym typeface="Open Sans"/>
              </a:rPr>
              <a:t>, sou </a:t>
            </a:r>
            <a:r>
              <a:rPr lang="en-US" sz="2800" dirty="0" err="1">
                <a:sym typeface="Open Sans"/>
              </a:rPr>
              <a:t>desenvolvedor</a:t>
            </a:r>
            <a:r>
              <a:rPr lang="en-US" sz="2800" dirty="0">
                <a:sym typeface="Open Sans"/>
              </a:rPr>
              <a:t> </a:t>
            </a:r>
            <a:r>
              <a:rPr lang="en-US" sz="2800" dirty="0" err="1">
                <a:sym typeface="Open Sans"/>
              </a:rPr>
              <a:t>na</a:t>
            </a:r>
            <a:r>
              <a:rPr lang="en-US" sz="2800" dirty="0">
                <a:sym typeface="Open Sans"/>
              </a:rPr>
              <a:t> </a:t>
            </a:r>
            <a:r>
              <a:rPr lang="en-US" sz="2800" b="1" dirty="0">
                <a:sym typeface="Open Sans"/>
              </a:rPr>
              <a:t>Fiorilli Software</a:t>
            </a:r>
            <a:r>
              <a:rPr lang="en-US" sz="2800" dirty="0">
                <a:sym typeface="Open Sans"/>
              </a:rPr>
              <a:t> e </a:t>
            </a:r>
            <a:r>
              <a:rPr lang="en-US" sz="2800" dirty="0" err="1">
                <a:sym typeface="Open Sans"/>
              </a:rPr>
              <a:t>prestador</a:t>
            </a:r>
            <a:r>
              <a:rPr lang="en-US" sz="2800" dirty="0">
                <a:sym typeface="Open Sans"/>
              </a:rPr>
              <a:t> de </a:t>
            </a:r>
            <a:r>
              <a:rPr lang="en-US" sz="2800" dirty="0" err="1">
                <a:sym typeface="Open Sans"/>
              </a:rPr>
              <a:t>serviços</a:t>
            </a:r>
            <a:r>
              <a:rPr lang="en-US" sz="2800" dirty="0">
                <a:sym typeface="Open Sans"/>
              </a:rPr>
              <a:t> </a:t>
            </a:r>
            <a:r>
              <a:rPr lang="en-US" sz="2800" dirty="0" err="1">
                <a:sym typeface="Open Sans"/>
              </a:rPr>
              <a:t>na</a:t>
            </a:r>
            <a:r>
              <a:rPr lang="en-US" sz="2800" dirty="0">
                <a:sym typeface="Open Sans"/>
              </a:rPr>
              <a:t> </a:t>
            </a:r>
            <a:r>
              <a:rPr lang="en-US" sz="2800" b="1" dirty="0" err="1">
                <a:sym typeface="Open Sans"/>
              </a:rPr>
              <a:t>Destak</a:t>
            </a:r>
            <a:r>
              <a:rPr lang="en-US" sz="2800" b="1" dirty="0">
                <a:sym typeface="Open Sans"/>
              </a:rPr>
              <a:t> </a:t>
            </a:r>
            <a:r>
              <a:rPr lang="en-US" sz="2800" b="1" dirty="0" err="1">
                <a:sym typeface="Open Sans"/>
              </a:rPr>
              <a:t>Informática</a:t>
            </a:r>
            <a:r>
              <a:rPr lang="en-US" sz="2800" dirty="0">
                <a:sym typeface="Open Sans"/>
              </a:rPr>
              <a:t>.</a:t>
            </a:r>
          </a:p>
          <a:p>
            <a:pPr marL="0" lvl="0" indent="0" algn="l">
              <a:lnSpc>
                <a:spcPts val="2825"/>
              </a:lnSpc>
            </a:pPr>
            <a:endParaRPr lang="en-US" sz="239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F9C28EB-4E43-A1DF-B507-5EFE8F23C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" r="4813"/>
          <a:stretch/>
        </p:blipFill>
        <p:spPr>
          <a:xfrm>
            <a:off x="1028700" y="1426189"/>
            <a:ext cx="3329971" cy="36846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2" name="Group 9">
            <a:extLst>
              <a:ext uri="{FF2B5EF4-FFF2-40B4-BE49-F238E27FC236}">
                <a16:creationId xmlns:a16="http://schemas.microsoft.com/office/drawing/2014/main" id="{7873E83F-4678-E35A-664C-6F2F4CF88BD7}"/>
              </a:ext>
            </a:extLst>
          </p:cNvPr>
          <p:cNvGrpSpPr/>
          <p:nvPr/>
        </p:nvGrpSpPr>
        <p:grpSpPr>
          <a:xfrm>
            <a:off x="4750956" y="1362672"/>
            <a:ext cx="61116" cy="806351"/>
            <a:chOff x="0" y="0"/>
            <a:chExt cx="18484" cy="212372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6137482-7246-7212-73B7-C7E877C33B63}"/>
                </a:ext>
              </a:extLst>
            </p:cNvPr>
            <p:cNvSpPr/>
            <p:nvPr/>
          </p:nvSpPr>
          <p:spPr>
            <a:xfrm>
              <a:off x="0" y="0"/>
              <a:ext cx="18484" cy="212372"/>
            </a:xfrm>
            <a:custGeom>
              <a:avLst/>
              <a:gdLst/>
              <a:ahLst/>
              <a:cxnLst/>
              <a:rect l="l" t="t" r="r" b="b"/>
              <a:pathLst>
                <a:path w="18484" h="212372">
                  <a:moveTo>
                    <a:pt x="0" y="0"/>
                  </a:moveTo>
                  <a:lnTo>
                    <a:pt x="18484" y="0"/>
                  </a:lnTo>
                  <a:lnTo>
                    <a:pt x="18484" y="212372"/>
                  </a:lnTo>
                  <a:lnTo>
                    <a:pt x="0" y="212372"/>
                  </a:ln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24E2887E-01F3-93F5-A8A2-93DE57C02B01}"/>
                </a:ext>
              </a:extLst>
            </p:cNvPr>
            <p:cNvSpPr txBox="1"/>
            <p:nvPr/>
          </p:nvSpPr>
          <p:spPr>
            <a:xfrm>
              <a:off x="0" y="-38100"/>
              <a:ext cx="18484" cy="250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3">
            <a:extLst>
              <a:ext uri="{FF2B5EF4-FFF2-40B4-BE49-F238E27FC236}">
                <a16:creationId xmlns:a16="http://schemas.microsoft.com/office/drawing/2014/main" id="{6ACA88BD-7F89-EDF7-72AF-897DFD94E7E3}"/>
              </a:ext>
            </a:extLst>
          </p:cNvPr>
          <p:cNvSpPr txBox="1"/>
          <p:nvPr/>
        </p:nvSpPr>
        <p:spPr>
          <a:xfrm>
            <a:off x="5029201" y="1494582"/>
            <a:ext cx="12649200" cy="542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41"/>
              </a:lnSpc>
            </a:pPr>
            <a:r>
              <a:rPr lang="en-US" sz="3594" dirty="0">
                <a:latin typeface="Gabarito"/>
                <a:ea typeface="Gabarito"/>
                <a:cs typeface="Gabarito"/>
                <a:sym typeface="Gabarito"/>
              </a:rPr>
              <a:t>Vinicius Abreu</a:t>
            </a:r>
          </a:p>
        </p:txBody>
      </p:sp>
      <p:pic>
        <p:nvPicPr>
          <p:cNvPr id="16" name="Picture 6" descr="Embarcadero Technologies Corporate Logo - Embarcadero">
            <a:extLst>
              <a:ext uri="{FF2B5EF4-FFF2-40B4-BE49-F238E27FC236}">
                <a16:creationId xmlns:a16="http://schemas.microsoft.com/office/drawing/2014/main" id="{4C6422E7-2583-BEC9-D096-8F1908D4E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27" y="6776808"/>
            <a:ext cx="1419227" cy="14192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Comparação de preços – Fiorilli Software">
            <a:extLst>
              <a:ext uri="{FF2B5EF4-FFF2-40B4-BE49-F238E27FC236}">
                <a16:creationId xmlns:a16="http://schemas.microsoft.com/office/drawing/2014/main" id="{9E94326C-9922-2B7C-5E83-9EA786785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116" y="4432061"/>
            <a:ext cx="678789" cy="67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F5681031-39F0-FE63-5327-73B484DFE4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763" y="4432060"/>
            <a:ext cx="678790" cy="678790"/>
          </a:xfrm>
          <a:prstGeom prst="rect">
            <a:avLst/>
          </a:prstGeom>
        </p:spPr>
      </p:pic>
      <p:grpSp>
        <p:nvGrpSpPr>
          <p:cNvPr id="24" name="Group 9">
            <a:extLst>
              <a:ext uri="{FF2B5EF4-FFF2-40B4-BE49-F238E27FC236}">
                <a16:creationId xmlns:a16="http://schemas.microsoft.com/office/drawing/2014/main" id="{F84CC648-361E-0084-AFF2-8AB298C2CB18}"/>
              </a:ext>
            </a:extLst>
          </p:cNvPr>
          <p:cNvGrpSpPr/>
          <p:nvPr/>
        </p:nvGrpSpPr>
        <p:grpSpPr>
          <a:xfrm>
            <a:off x="940955" y="5520332"/>
            <a:ext cx="61116" cy="806351"/>
            <a:chOff x="0" y="0"/>
            <a:chExt cx="18484" cy="212372"/>
          </a:xfrm>
        </p:grpSpPr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813CC49B-4720-477D-ED6F-A09DB8BC602A}"/>
                </a:ext>
              </a:extLst>
            </p:cNvPr>
            <p:cNvSpPr/>
            <p:nvPr/>
          </p:nvSpPr>
          <p:spPr>
            <a:xfrm>
              <a:off x="0" y="0"/>
              <a:ext cx="18484" cy="212372"/>
            </a:xfrm>
            <a:custGeom>
              <a:avLst/>
              <a:gdLst/>
              <a:ahLst/>
              <a:cxnLst/>
              <a:rect l="l" t="t" r="r" b="b"/>
              <a:pathLst>
                <a:path w="18484" h="212372">
                  <a:moveTo>
                    <a:pt x="0" y="0"/>
                  </a:moveTo>
                  <a:lnTo>
                    <a:pt x="18484" y="0"/>
                  </a:lnTo>
                  <a:lnTo>
                    <a:pt x="18484" y="212372"/>
                  </a:lnTo>
                  <a:lnTo>
                    <a:pt x="0" y="212372"/>
                  </a:ln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EC58FB4C-3E9D-3B11-BB89-8F323C907A75}"/>
                </a:ext>
              </a:extLst>
            </p:cNvPr>
            <p:cNvSpPr txBox="1"/>
            <p:nvPr/>
          </p:nvSpPr>
          <p:spPr>
            <a:xfrm>
              <a:off x="0" y="-38100"/>
              <a:ext cx="18484" cy="250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13">
            <a:extLst>
              <a:ext uri="{FF2B5EF4-FFF2-40B4-BE49-F238E27FC236}">
                <a16:creationId xmlns:a16="http://schemas.microsoft.com/office/drawing/2014/main" id="{5F72111E-966C-4E91-C4A3-EEA1A7B0C5AE}"/>
              </a:ext>
            </a:extLst>
          </p:cNvPr>
          <p:cNvSpPr txBox="1"/>
          <p:nvPr/>
        </p:nvSpPr>
        <p:spPr>
          <a:xfrm>
            <a:off x="1219200" y="5652242"/>
            <a:ext cx="12649200" cy="542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41"/>
              </a:lnSpc>
            </a:pPr>
            <a:r>
              <a:rPr lang="en-US" sz="3594" dirty="0" err="1">
                <a:latin typeface="Gabarito"/>
                <a:ea typeface="Gabarito"/>
                <a:cs typeface="Gabarito"/>
                <a:sym typeface="Gabarito"/>
              </a:rPr>
              <a:t>Principais</a:t>
            </a:r>
            <a:r>
              <a:rPr lang="en-US" sz="3594" dirty="0">
                <a:latin typeface="Gabarito"/>
                <a:ea typeface="Gabarito"/>
                <a:cs typeface="Gabarito"/>
                <a:sym typeface="Gabarito"/>
              </a:rPr>
              <a:t> Skills</a:t>
            </a:r>
          </a:p>
        </p:txBody>
      </p:sp>
      <p:pic>
        <p:nvPicPr>
          <p:cNvPr id="1032" name="Picture 8" descr="Horse">
            <a:extLst>
              <a:ext uri="{FF2B5EF4-FFF2-40B4-BE49-F238E27FC236}">
                <a16:creationId xmlns:a16="http://schemas.microsoft.com/office/drawing/2014/main" id="{A77FB308-1582-C73B-E283-0B8219D1F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670" y="6870385"/>
            <a:ext cx="1941883" cy="1313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m 32" descr="Texto, Logotipo, nome da empresa&#10;&#10;O conteúdo gerado por IA pode estar incorreto.">
            <a:extLst>
              <a:ext uri="{FF2B5EF4-FFF2-40B4-BE49-F238E27FC236}">
                <a16:creationId xmlns:a16="http://schemas.microsoft.com/office/drawing/2014/main" id="{9B66E5C9-014D-BB27-0DDC-88F2ADFCAE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72" y="7096416"/>
            <a:ext cx="4140609" cy="963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901BEF47-F2AC-8D5D-C7E1-3B37565137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7035316"/>
            <a:ext cx="902210" cy="902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6" name="Rectangle 1071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>
              <a:defRPr/>
            </a:pPr>
            <a:endParaRPr lang="en-US" sz="27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8" name="Picture 4" descr="Fiorilli Software – Assistência e consultoria municipal">
            <a:extLst>
              <a:ext uri="{FF2B5EF4-FFF2-40B4-BE49-F238E27FC236}">
                <a16:creationId xmlns:a16="http://schemas.microsoft.com/office/drawing/2014/main" id="{BBC5066E-7291-1FB7-6859-3A0A1A6AF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4" r="4" b="18765"/>
          <a:stretch/>
        </p:blipFill>
        <p:spPr bwMode="auto">
          <a:xfrm>
            <a:off x="30" y="16"/>
            <a:ext cx="18287970" cy="669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7" name="Rectangle: Rounded Corners 1073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79328"/>
            <a:ext cx="14073807" cy="10287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>
              <a:defRPr/>
            </a:pPr>
            <a:endParaRPr lang="en-US" sz="27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6FC17F-9827-3344-A923-359E9665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3" y="6304918"/>
            <a:ext cx="12835790" cy="804095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Fiorilli S/C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FF8935-099F-9BB1-C4EA-7D7E30632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7434471"/>
            <a:ext cx="16587216" cy="2701653"/>
          </a:xfrm>
        </p:spPr>
        <p:txBody>
          <a:bodyPr>
            <a:normAutofit/>
          </a:bodyPr>
          <a:lstStyle/>
          <a:p>
            <a:r>
              <a:rPr lang="pt-BR" sz="3000" dirty="0">
                <a:latin typeface="Segoe UI" panose="020B0502040204020203" pitchFamily="34" charset="0"/>
                <a:cs typeface="Segoe UI" panose="020B0502040204020203" pitchFamily="34" charset="0"/>
              </a:rPr>
              <a:t>Atuando há mais de 48 anos</a:t>
            </a:r>
          </a:p>
          <a:p>
            <a:r>
              <a:rPr lang="pt-BR" sz="3000" dirty="0">
                <a:latin typeface="Segoe UI" panose="020B0502040204020203" pitchFamily="34" charset="0"/>
                <a:cs typeface="Segoe UI" panose="020B0502040204020203" pitchFamily="34" charset="0"/>
              </a:rPr>
              <a:t>Uma das maiores empresas do Brasil no desenvolvimento de softwares de gestão pública</a:t>
            </a:r>
          </a:p>
          <a:p>
            <a:r>
              <a:rPr lang="pt-BR" sz="3000" dirty="0">
                <a:latin typeface="Segoe UI" panose="020B0502040204020203" pitchFamily="34" charset="0"/>
                <a:cs typeface="Segoe UI" panose="020B0502040204020203" pitchFamily="34" charset="0"/>
              </a:rPr>
              <a:t>Presentes em mais de 1000 municípios facilitando a rotina de mais de 2500 órgãos públicos</a:t>
            </a:r>
          </a:p>
          <a:p>
            <a:r>
              <a:rPr lang="pt-BR" sz="3000" dirty="0">
                <a:latin typeface="Segoe UI" panose="020B0502040204020203" pitchFamily="34" charset="0"/>
                <a:cs typeface="Segoe UI" panose="020B0502040204020203" pitchFamily="34" charset="0"/>
              </a:rPr>
              <a:t>Líder de mercado, é a empresa que mais cresce em seu segmento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70967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B68F1-FDD0-45B3-B517-EEA96CAF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3115DB-D0C1-D80F-8B98-9D1FC4D1D088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29FB23-741F-2839-2EF1-5C7BFAF5D713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BF7881-F8A9-CD33-5F68-D77F288867D2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1B889DB-0B92-4090-3109-C28EFB488998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12B948F-9B66-DE79-A779-0FC27760C59B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75A6506-F5B5-EE2B-5F2D-607BC337016F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002CBB7-3139-069D-E755-D6FBB52FBFA1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997E24-DE33-A957-1782-3CED7F8A5C9D}"/>
              </a:ext>
            </a:extLst>
          </p:cNvPr>
          <p:cNvSpPr txBox="1"/>
          <p:nvPr/>
        </p:nvSpPr>
        <p:spPr>
          <a:xfrm>
            <a:off x="1028700" y="1114425"/>
            <a:ext cx="16230600" cy="61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6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Nesta apresentação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B53133B-073F-A0BD-1AA9-C57718AF048F}"/>
              </a:ext>
            </a:extLst>
          </p:cNvPr>
          <p:cNvSpPr txBox="1"/>
          <p:nvPr/>
        </p:nvSpPr>
        <p:spPr>
          <a:xfrm>
            <a:off x="1028700" y="2534209"/>
            <a:ext cx="16230600" cy="353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que é Code Profiling?</a:t>
            </a: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Tipos de Profiling</a:t>
            </a: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Ferramentas para Profiling</a:t>
            </a: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Profiling na prática</a:t>
            </a:r>
          </a:p>
        </p:txBody>
      </p:sp>
    </p:spTree>
    <p:extLst>
      <p:ext uri="{BB962C8B-B14F-4D97-AF65-F5344CB8AC3E}">
        <p14:creationId xmlns:p14="http://schemas.microsoft.com/office/powerpoint/2010/main" val="6949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8700" y="1114425"/>
            <a:ext cx="16230600" cy="61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6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Code Profiling?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34209"/>
            <a:ext cx="1623060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 o processo de analisar a execução de um programa para determinar quais partes dele consomem mais recursos (tempo de CPU, memória, etc.) e em que frequência.</a:t>
            </a:r>
            <a:b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um médico que usa exames para diagnosticar um problema de saúde, o profiling usa ferramentas para diagnosticar problemas de performance no código.</a:t>
            </a:r>
            <a:endParaRPr lang="en-US" sz="239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" name="Imagem 11" descr="Uma imagem contendo ao ar livre, voando, avião, pequeno&#10;&#10;O conteúdo gerado por IA pode estar incorreto.">
            <a:extLst>
              <a:ext uri="{FF2B5EF4-FFF2-40B4-BE49-F238E27FC236}">
                <a16:creationId xmlns:a16="http://schemas.microsoft.com/office/drawing/2014/main" id="{320AECEB-8264-31A1-F6B0-CD080FCE0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200" y="4258812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5EF2A-D0C3-479B-C5AC-6F83E646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52F11B-8C32-87BD-5CE8-2905A03F23E0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1A64710-1EDE-2E42-CBFB-0D604D6BEC66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A0CAB47-D295-2B4D-8D13-7A38CE83C7E6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EC2C9A5-8AEE-7171-44FD-727E473FFE1C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81BFF-2D8C-7B8A-814E-F8E8B85D11E3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93D8672-E760-2E43-5DED-57519125CA48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C6F5E12-0821-42EB-2835-3566BD39DD8C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BAFC385-88AA-6954-2FE7-7A991AC030DB}"/>
              </a:ext>
            </a:extLst>
          </p:cNvPr>
          <p:cNvSpPr txBox="1"/>
          <p:nvPr/>
        </p:nvSpPr>
        <p:spPr>
          <a:xfrm>
            <a:off x="1028700" y="1114425"/>
            <a:ext cx="16230600" cy="61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6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Sampling X Instrumentation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F58BE3-FD7D-264C-C4FB-9FA9005E6A2D}"/>
              </a:ext>
            </a:extLst>
          </p:cNvPr>
          <p:cNvSpPr txBox="1"/>
          <p:nvPr/>
        </p:nvSpPr>
        <p:spPr>
          <a:xfrm>
            <a:off x="1028700" y="2534209"/>
            <a:ext cx="1623060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2825"/>
              </a:lnSpc>
              <a:buFont typeface="Arial" panose="020B0604020202020204" pitchFamily="34" charset="0"/>
              <a:buChar char="•"/>
            </a:pPr>
            <a:r>
              <a:rPr lang="pt-BR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Sampling 📸: </a:t>
            </a:r>
            <a:r>
              <a:rPr lang="pt-BR" sz="2400" dirty="0"/>
              <a:t>Imagine que você tira uma "foto" do seu código em execução em intervalos de tempo muito curtos e aleatórios. O profiler não interfere no código, apenas "observa" de fora.</a:t>
            </a:r>
            <a:b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lang="pt-BR" sz="239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lnSpc>
                <a:spcPts val="2825"/>
              </a:lnSpc>
              <a:buFont typeface="Arial" panose="020B0604020202020204" pitchFamily="34" charset="0"/>
              <a:buChar char="•"/>
            </a:pPr>
            <a:r>
              <a:rPr lang="pt-BR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Instrumentation ⏱️: </a:t>
            </a:r>
            <a:r>
              <a:rPr lang="pt-BR" sz="2400" dirty="0"/>
              <a:t>O profiler insere pequenas "chamadas de código" no seu programa (no início e no fim de cada função ou trecho de código) para medir o tempo exato de execução e o número de vezes que ele foi chamado.</a:t>
            </a:r>
            <a:endParaRPr lang="en-US" sz="2394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1260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3AB0-CC21-7160-DA58-5D769B0D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B5DE61-8A98-C99A-2D92-88C313239222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9C50F3-57FE-A514-3961-225D6CFD72B3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FD0FFE7-D62D-2252-B768-B91F4B41790B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9570CF6-7B48-78AE-73CF-5950E8B00A0F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26DD12-839F-61A6-1316-4AAF8D293401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1B8B12-4DED-7BD2-3B99-806E6FD9827D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D241382-4840-BAF5-66CB-F9D8EAB9D41F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5EFCAB8-B5E6-22F6-B8A6-652F9D5DFB34}"/>
              </a:ext>
            </a:extLst>
          </p:cNvPr>
          <p:cNvSpPr txBox="1"/>
          <p:nvPr/>
        </p:nvSpPr>
        <p:spPr>
          <a:xfrm>
            <a:off x="1028700" y="1114425"/>
            <a:ext cx="16230600" cy="61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6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Profilers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B8B809-4CDA-0473-E3B5-54F334B61F68}"/>
              </a:ext>
            </a:extLst>
          </p:cNvPr>
          <p:cNvSpPr txBox="1"/>
          <p:nvPr/>
        </p:nvSpPr>
        <p:spPr>
          <a:xfrm>
            <a:off x="1028700" y="2534209"/>
            <a:ext cx="16230600" cy="440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TStopwatch</a:t>
            </a:r>
            <a:r>
              <a:rPr lang="en-US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(System.Diagnostics)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Sampling Profiler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Nexus Quality Suite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Delphi Parser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DBG Spider</a:t>
            </a:r>
          </a:p>
          <a:p>
            <a:pPr marL="342900" indent="-342900">
              <a:lnSpc>
                <a:spcPts val="2825"/>
              </a:lnSpc>
              <a:buFont typeface="Arial" panose="020B0604020202020204" pitchFamily="34" charset="0"/>
              <a:buChar char="•"/>
            </a:pPr>
            <a:endParaRPr lang="en-US" sz="2394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lnSpc>
                <a:spcPts val="2825"/>
              </a:lnSpc>
              <a:buFont typeface="Arial" panose="020B0604020202020204" pitchFamily="34" charset="0"/>
              <a:buChar char="•"/>
            </a:pPr>
            <a:endParaRPr lang="en-US" sz="2394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4039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9392-CCB3-9DAA-02FC-FBD7EADC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40E345-0DA7-0226-8792-6FF2BB5AF34A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5417BE-8550-F33F-9B8B-8473C8B8868D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4028471-8966-5E8D-8B51-B70D8D769CF9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0692E4-FD6E-EC25-1F87-0BFB329CEFB1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B4FBBF-A230-96FF-D997-09CF0B996372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73FF709-F536-2B48-C540-A5149F05E867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0CFD268-4C53-0DEF-D703-2441BCD14086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98B5484-64A5-6E61-131F-89C1CC67FEB6}"/>
              </a:ext>
            </a:extLst>
          </p:cNvPr>
          <p:cNvSpPr txBox="1"/>
          <p:nvPr/>
        </p:nvSpPr>
        <p:spPr>
          <a:xfrm>
            <a:off x="1028700" y="1114425"/>
            <a:ext cx="16230600" cy="61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6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System.Diagnostics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4AE31B6-16E8-9C0C-D98E-A26A88BB6A7D}"/>
              </a:ext>
            </a:extLst>
          </p:cNvPr>
          <p:cNvSpPr txBox="1"/>
          <p:nvPr/>
        </p:nvSpPr>
        <p:spPr>
          <a:xfrm>
            <a:off x="1028700" y="2534209"/>
            <a:ext cx="7810500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825"/>
              </a:lnSpc>
              <a:buFont typeface="Arial" panose="020B0604020202020204" pitchFamily="34" charset="0"/>
              <a:buChar char="•"/>
            </a:pP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pt-BR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TStopwatch</a:t>
            </a: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unit </a:t>
            </a:r>
            <a:r>
              <a:rPr lang="pt-BR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System.Diagnostics</a:t>
            </a: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é uma ferramenta simples e precisa para medir intervalos de tempo de forma eficiente em Delphi. Ele oferece alta resolução para calcular a duração de operações.</a:t>
            </a:r>
          </a:p>
          <a:p>
            <a:pPr>
              <a:lnSpc>
                <a:spcPts val="2825"/>
              </a:lnSpc>
            </a:pPr>
            <a:endParaRPr lang="pt-BR" sz="239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825"/>
              </a:lnSpc>
            </a:pPr>
            <a:r>
              <a:rPr lang="pt-BR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Documentação: </a:t>
            </a: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https://docwiki.embarcadero.com/Libraries/Athens/en/System.Diagnostics.TStopwatch</a:t>
            </a:r>
          </a:p>
        </p:txBody>
      </p:sp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FEECFC53-A4E4-3C5D-A0D0-9365EDF03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2" y="1409700"/>
            <a:ext cx="8287170" cy="648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9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CB7DD-756E-B937-FD0B-2A9AD2B9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E918C73-A7E4-A35E-9D89-DEF292CE4C70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E68FFE-F0F4-38CD-0061-50D4B882BA3C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8A4783C-93BE-A9F5-1135-6A899F32CA9B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45752DA-20F1-F101-C08E-7BFD96CF3D3B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FBAB08C-6F1C-52B2-6840-784E914374D7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101E73F-A4DE-0B27-2CE9-7981D5E7DADD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F183768-4D5E-978A-20C4-79331ED3161C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1EA7A7-8A30-D542-C6BB-854C2DFC10CE}"/>
              </a:ext>
            </a:extLst>
          </p:cNvPr>
          <p:cNvSpPr txBox="1"/>
          <p:nvPr/>
        </p:nvSpPr>
        <p:spPr>
          <a:xfrm>
            <a:off x="1028700" y="1114425"/>
            <a:ext cx="16230600" cy="61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6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Sampling Profiler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05B5E27-F152-DDAA-721C-B1632564C398}"/>
              </a:ext>
            </a:extLst>
          </p:cNvPr>
          <p:cNvSpPr txBox="1"/>
          <p:nvPr/>
        </p:nvSpPr>
        <p:spPr>
          <a:xfrm>
            <a:off x="1028700" y="2534209"/>
            <a:ext cx="86487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825"/>
              </a:lnSpc>
              <a:buFont typeface="Arial" panose="020B0604020202020204" pitchFamily="34" charset="0"/>
              <a:buChar char="•"/>
            </a:pP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pt-BR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Sampling Profiler </a:t>
            </a: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(do Eric Grange) é uma ferramenta externa gratuita para Delphi que se destaca por sua simplicidade e eficácia para identificar gargalos de performance em aplicações.</a:t>
            </a:r>
            <a:endParaRPr lang="pt-BR" sz="2394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825"/>
              </a:lnSpc>
            </a:pPr>
            <a:endParaRPr lang="pt-BR" sz="2394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825"/>
              </a:lnSpc>
            </a:pPr>
            <a:r>
              <a:rPr lang="pt-BR" sz="239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Delphi Tools: </a:t>
            </a: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https://www.delphitools.info/samplingprofiler/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27A4F4-0D52-6ABC-80A0-2879976BC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1422875"/>
            <a:ext cx="6781802" cy="7128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16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22BD1-3A93-FC32-90FA-A5B582FC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5080D0-2C49-E99C-6693-C411182AE888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72AD4B-7705-3466-A161-927F5F9EDAB2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2FDB6B8-0228-05A3-DEE4-3D1B8D20C009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9DF3EBD-16AA-50F6-1D5B-064101EC856E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887296C-B3E5-AB22-D431-AB27955326C2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6B0165-1D9D-4824-95D4-D8C1A2C783FD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1EEEA649-5D04-AD26-1CD1-73DF8EE0F05D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BFDABC-7788-069B-F0B8-8E66C02EE874}"/>
              </a:ext>
            </a:extLst>
          </p:cNvPr>
          <p:cNvSpPr txBox="1"/>
          <p:nvPr/>
        </p:nvSpPr>
        <p:spPr>
          <a:xfrm>
            <a:off x="1143000" y="3242007"/>
            <a:ext cx="8648700" cy="487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endParaRPr lang="pt-BR" sz="6600" b="1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83A4694-B342-5AD7-F905-ECC83682E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85" y="266700"/>
            <a:ext cx="16570625" cy="89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20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D4786-BFA7-B077-2605-11287B92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7FB5C9-C757-D24D-3231-C57CE4499BBD}"/>
              </a:ext>
            </a:extLst>
          </p:cNvPr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912DB3-BE0D-53A3-CD1E-EFE68BC72AAF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C28BF66-3DB6-CA3C-1909-1023ACA90E2C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9187001-055B-ED81-E7F5-BFE01E007C9C}"/>
              </a:ext>
            </a:extLst>
          </p:cNvPr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44EC11-CA7E-0B06-B467-AA07BB4C2D0B}"/>
                </a:ext>
              </a:extLst>
            </p:cNvPr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63DDAD-D913-0A62-879F-AFC8A7355F77}"/>
                </a:ext>
              </a:extLst>
            </p:cNvPr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731D707-B487-6AFD-B803-BD636F723A25}"/>
              </a:ext>
            </a:extLst>
          </p:cNvPr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0E336BD-896D-241E-56A0-8F3DDB165F10}"/>
              </a:ext>
            </a:extLst>
          </p:cNvPr>
          <p:cNvSpPr txBox="1"/>
          <p:nvPr/>
        </p:nvSpPr>
        <p:spPr>
          <a:xfrm>
            <a:off x="1028700" y="1114425"/>
            <a:ext cx="16230600" cy="61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6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Canal no YouTube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6B61B6B-0EFF-560A-B28D-3A8647653906}"/>
              </a:ext>
            </a:extLst>
          </p:cNvPr>
          <p:cNvSpPr txBox="1"/>
          <p:nvPr/>
        </p:nvSpPr>
        <p:spPr>
          <a:xfrm>
            <a:off x="1028700" y="2534209"/>
            <a:ext cx="86487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Inscreva-se para ter acesso a mais conteúdos</a:t>
            </a:r>
          </a:p>
        </p:txBody>
      </p:sp>
      <p:pic>
        <p:nvPicPr>
          <p:cNvPr id="13" name="Imagem 12" descr="Código QR&#10;&#10;O conteúdo gerado por IA pode estar incorreto.">
            <a:extLst>
              <a:ext uri="{FF2B5EF4-FFF2-40B4-BE49-F238E27FC236}">
                <a16:creationId xmlns:a16="http://schemas.microsoft.com/office/drawing/2014/main" id="{4C36C71D-E111-40C5-3D6D-1AD9C25C1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829" y="1422875"/>
            <a:ext cx="6848473" cy="68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7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002353"/>
            <a:ext cx="18288000" cy="10717853"/>
            <a:chOff x="0" y="0"/>
            <a:chExt cx="4816593" cy="2822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C907C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288103"/>
            <a:ext cx="18288000" cy="10717853"/>
            <a:chOff x="0" y="0"/>
            <a:chExt cx="4816593" cy="2822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822809"/>
            </a:xfrm>
            <a:custGeom>
              <a:avLst/>
              <a:gdLst/>
              <a:ahLst/>
              <a:cxnLst/>
              <a:rect l="l" t="t" r="r" b="b"/>
              <a:pathLst>
                <a:path w="4816592" h="2822809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780476"/>
                  </a:lnTo>
                  <a:cubicBezTo>
                    <a:pt x="4816592" y="2791703"/>
                    <a:pt x="4812132" y="2802471"/>
                    <a:pt x="4804193" y="2810410"/>
                  </a:cubicBezTo>
                  <a:cubicBezTo>
                    <a:pt x="4796254" y="2818349"/>
                    <a:pt x="4785487" y="2822809"/>
                    <a:pt x="4774259" y="2822809"/>
                  </a:cubicBezTo>
                  <a:lnTo>
                    <a:pt x="42333" y="2822809"/>
                  </a:lnTo>
                  <a:cubicBezTo>
                    <a:pt x="31106" y="2822809"/>
                    <a:pt x="20338" y="2818349"/>
                    <a:pt x="12399" y="2810410"/>
                  </a:cubicBezTo>
                  <a:cubicBezTo>
                    <a:pt x="4460" y="2802471"/>
                    <a:pt x="0" y="2791703"/>
                    <a:pt x="0" y="278047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4816593" cy="281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1080729"/>
            <a:ext cx="18288000" cy="10510479"/>
          </a:xfrm>
          <a:custGeom>
            <a:avLst/>
            <a:gdLst/>
            <a:ahLst/>
            <a:cxnLst/>
            <a:rect l="l" t="t" r="r" b="b"/>
            <a:pathLst>
              <a:path w="18288000" h="10510479">
                <a:moveTo>
                  <a:pt x="0" y="0"/>
                </a:moveTo>
                <a:lnTo>
                  <a:pt x="18288000" y="0"/>
                </a:lnTo>
                <a:lnTo>
                  <a:pt x="18288000" y="10510479"/>
                </a:lnTo>
                <a:lnTo>
                  <a:pt x="0" y="105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4091" r="-409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9" name="Group 9"/>
          <p:cNvGrpSpPr/>
          <p:nvPr/>
        </p:nvGrpSpPr>
        <p:grpSpPr>
          <a:xfrm>
            <a:off x="11091029" y="1280959"/>
            <a:ext cx="3042004" cy="3375005"/>
            <a:chOff x="0" y="0"/>
            <a:chExt cx="1018331" cy="1129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8331" cy="1129805"/>
            </a:xfrm>
            <a:custGeom>
              <a:avLst/>
              <a:gdLst/>
              <a:ahLst/>
              <a:cxnLst/>
              <a:rect l="l" t="t" r="r" b="b"/>
              <a:pathLst>
                <a:path w="1018331" h="1129805">
                  <a:moveTo>
                    <a:pt x="58535" y="0"/>
                  </a:moveTo>
                  <a:lnTo>
                    <a:pt x="959796" y="0"/>
                  </a:lnTo>
                  <a:cubicBezTo>
                    <a:pt x="975320" y="0"/>
                    <a:pt x="990209" y="6167"/>
                    <a:pt x="1001186" y="17145"/>
                  </a:cubicBezTo>
                  <a:cubicBezTo>
                    <a:pt x="1012164" y="28122"/>
                    <a:pt x="1018331" y="43011"/>
                    <a:pt x="1018331" y="58535"/>
                  </a:cubicBezTo>
                  <a:lnTo>
                    <a:pt x="1018331" y="1071270"/>
                  </a:lnTo>
                  <a:cubicBezTo>
                    <a:pt x="1018331" y="1086795"/>
                    <a:pt x="1012164" y="1101683"/>
                    <a:pt x="1001186" y="1112661"/>
                  </a:cubicBezTo>
                  <a:cubicBezTo>
                    <a:pt x="990209" y="1123638"/>
                    <a:pt x="975320" y="1129805"/>
                    <a:pt x="959796" y="1129805"/>
                  </a:cubicBezTo>
                  <a:lnTo>
                    <a:pt x="58535" y="1129805"/>
                  </a:lnTo>
                  <a:cubicBezTo>
                    <a:pt x="43011" y="1129805"/>
                    <a:pt x="28122" y="1123638"/>
                    <a:pt x="17145" y="1112661"/>
                  </a:cubicBezTo>
                  <a:cubicBezTo>
                    <a:pt x="6167" y="1101683"/>
                    <a:pt x="0" y="1086795"/>
                    <a:pt x="0" y="1071270"/>
                  </a:cubicBezTo>
                  <a:lnTo>
                    <a:pt x="0" y="58535"/>
                  </a:lnTo>
                  <a:cubicBezTo>
                    <a:pt x="0" y="43011"/>
                    <a:pt x="6167" y="28122"/>
                    <a:pt x="17145" y="17145"/>
                  </a:cubicBezTo>
                  <a:cubicBezTo>
                    <a:pt x="28122" y="6167"/>
                    <a:pt x="43011" y="0"/>
                    <a:pt x="58535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280959"/>
            <a:ext cx="2099880" cy="372729"/>
          </a:xfrm>
          <a:custGeom>
            <a:avLst/>
            <a:gdLst/>
            <a:ahLst/>
            <a:cxnLst/>
            <a:rect l="l" t="t" r="r" b="b"/>
            <a:pathLst>
              <a:path w="2099880" h="372729">
                <a:moveTo>
                  <a:pt x="0" y="0"/>
                </a:moveTo>
                <a:lnTo>
                  <a:pt x="2099880" y="0"/>
                </a:lnTo>
                <a:lnTo>
                  <a:pt x="2099880" y="372729"/>
                </a:lnTo>
                <a:lnTo>
                  <a:pt x="0" y="372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4962331"/>
            <a:ext cx="3491711" cy="3375005"/>
            <a:chOff x="0" y="0"/>
            <a:chExt cx="1168874" cy="1129805"/>
          </a:xfrm>
        </p:grpSpPr>
        <p:sp>
          <p:nvSpPr>
            <p:cNvPr id="13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168874" cy="1129805"/>
            </a:xfrm>
            <a:custGeom>
              <a:avLst/>
              <a:gdLst/>
              <a:ahLst/>
              <a:cxnLst/>
              <a:rect l="l" t="t" r="r" b="b"/>
              <a:pathLst>
                <a:path w="1168874" h="1129805">
                  <a:moveTo>
                    <a:pt x="110861" y="0"/>
                  </a:moveTo>
                  <a:lnTo>
                    <a:pt x="1058012" y="0"/>
                  </a:lnTo>
                  <a:cubicBezTo>
                    <a:pt x="1087415" y="0"/>
                    <a:pt x="1115613" y="11680"/>
                    <a:pt x="1136403" y="32471"/>
                  </a:cubicBezTo>
                  <a:cubicBezTo>
                    <a:pt x="1157194" y="53261"/>
                    <a:pt x="1168874" y="81459"/>
                    <a:pt x="1168874" y="110861"/>
                  </a:cubicBezTo>
                  <a:lnTo>
                    <a:pt x="1168874" y="1018944"/>
                  </a:lnTo>
                  <a:cubicBezTo>
                    <a:pt x="1168874" y="1048346"/>
                    <a:pt x="1157194" y="1076544"/>
                    <a:pt x="1136403" y="1097335"/>
                  </a:cubicBezTo>
                  <a:cubicBezTo>
                    <a:pt x="1115613" y="1118125"/>
                    <a:pt x="1087415" y="1129805"/>
                    <a:pt x="1058012" y="1129805"/>
                  </a:cubicBezTo>
                  <a:lnTo>
                    <a:pt x="110861" y="1129805"/>
                  </a:lnTo>
                  <a:cubicBezTo>
                    <a:pt x="81459" y="1129805"/>
                    <a:pt x="53261" y="1118125"/>
                    <a:pt x="32471" y="1097335"/>
                  </a:cubicBezTo>
                  <a:cubicBezTo>
                    <a:pt x="11680" y="1076544"/>
                    <a:pt x="0" y="1048346"/>
                    <a:pt x="0" y="1018944"/>
                  </a:cubicBezTo>
                  <a:lnTo>
                    <a:pt x="0" y="110861"/>
                  </a:lnTo>
                  <a:cubicBezTo>
                    <a:pt x="0" y="81459"/>
                    <a:pt x="11680" y="53261"/>
                    <a:pt x="32471" y="32471"/>
                  </a:cubicBezTo>
                  <a:cubicBezTo>
                    <a:pt x="53261" y="11680"/>
                    <a:pt x="81459" y="0"/>
                    <a:pt x="110861" y="0"/>
                  </a:cubicBezTo>
                  <a:close/>
                </a:path>
              </a:pathLst>
            </a:custGeom>
            <a:blipFill>
              <a:blip r:embed="rId5"/>
              <a:stretch>
                <a:fillRect t="-1728" b="-172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091029" y="5864505"/>
            <a:ext cx="378159" cy="378159"/>
          </a:xfrm>
          <a:custGeom>
            <a:avLst/>
            <a:gdLst/>
            <a:ahLst/>
            <a:cxnLst/>
            <a:rect l="l" t="t" r="r" b="b"/>
            <a:pathLst>
              <a:path w="378159" h="378159">
                <a:moveTo>
                  <a:pt x="0" y="0"/>
                </a:moveTo>
                <a:lnTo>
                  <a:pt x="378159" y="0"/>
                </a:lnTo>
                <a:lnTo>
                  <a:pt x="378159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1091029" y="6573720"/>
            <a:ext cx="378159" cy="378159"/>
          </a:xfrm>
          <a:custGeom>
            <a:avLst/>
            <a:gdLst/>
            <a:ahLst/>
            <a:cxnLst/>
            <a:rect l="l" t="t" r="r" b="b"/>
            <a:pathLst>
              <a:path w="378159" h="378159">
                <a:moveTo>
                  <a:pt x="0" y="0"/>
                </a:moveTo>
                <a:lnTo>
                  <a:pt x="378159" y="0"/>
                </a:lnTo>
                <a:lnTo>
                  <a:pt x="378159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11084263" y="7282935"/>
            <a:ext cx="391690" cy="378159"/>
          </a:xfrm>
          <a:custGeom>
            <a:avLst/>
            <a:gdLst/>
            <a:ahLst/>
            <a:cxnLst/>
            <a:rect l="l" t="t" r="r" b="b"/>
            <a:pathLst>
              <a:path w="391690" h="378159">
                <a:moveTo>
                  <a:pt x="0" y="0"/>
                </a:moveTo>
                <a:lnTo>
                  <a:pt x="391691" y="0"/>
                </a:lnTo>
                <a:lnTo>
                  <a:pt x="391691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>
            <a:off x="11094811" y="7992150"/>
            <a:ext cx="370596" cy="378159"/>
          </a:xfrm>
          <a:custGeom>
            <a:avLst/>
            <a:gdLst/>
            <a:ahLst/>
            <a:cxnLst/>
            <a:rect l="l" t="t" r="r" b="b"/>
            <a:pathLst>
              <a:path w="370596" h="378159">
                <a:moveTo>
                  <a:pt x="0" y="0"/>
                </a:moveTo>
                <a:lnTo>
                  <a:pt x="370595" y="0"/>
                </a:lnTo>
                <a:lnTo>
                  <a:pt x="370595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11487656" y="2222344"/>
            <a:ext cx="2248750" cy="149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3"/>
              </a:lnSpc>
            </a:pPr>
            <a:r>
              <a:rPr lang="en-US" sz="249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Inserir</a:t>
            </a:r>
            <a:endParaRPr lang="en-US" sz="249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>
              <a:lnSpc>
                <a:spcPts val="2943"/>
              </a:lnSpc>
            </a:pPr>
            <a:r>
              <a:rPr lang="en-US" sz="2494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foto</a:t>
            </a:r>
            <a:r>
              <a:rPr lang="en-US" sz="2494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</a:t>
            </a:r>
          </a:p>
          <a:p>
            <a:pPr marL="0" lvl="0" indent="0" algn="ctr">
              <a:lnSpc>
                <a:spcPts val="2943"/>
              </a:lnSpc>
            </a:pPr>
            <a:r>
              <a:rPr lang="en-US" sz="2494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palestrante</a:t>
            </a:r>
            <a:endParaRPr lang="en-US" sz="2494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>
              <a:lnSpc>
                <a:spcPts val="2943"/>
              </a:lnSpc>
            </a:pPr>
            <a:r>
              <a:rPr lang="en-US" sz="2494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aqui</a:t>
            </a:r>
            <a:endParaRPr lang="en-US" sz="2494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91029" y="5029006"/>
            <a:ext cx="6168271" cy="51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389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Vinicius de Abreu Batista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758463"/>
            <a:ext cx="8862029" cy="160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9"/>
              </a:lnSpc>
            </a:pPr>
            <a:r>
              <a:rPr lang="en-US" sz="6107">
                <a:solidFill>
                  <a:srgbClr val="C907C9"/>
                </a:solidFill>
                <a:latin typeface="Audiowide"/>
                <a:ea typeface="Audiowide"/>
                <a:cs typeface="Audiowide"/>
                <a:sym typeface="Audiowide"/>
              </a:rPr>
              <a:t>EMBARCADERO</a:t>
            </a:r>
          </a:p>
          <a:p>
            <a:pPr algn="l">
              <a:lnSpc>
                <a:spcPts val="6229"/>
              </a:lnSpc>
            </a:pPr>
            <a:r>
              <a:rPr lang="en-US" sz="6107">
                <a:solidFill>
                  <a:srgbClr val="C907C9"/>
                </a:solidFill>
                <a:latin typeface="Audiowide"/>
                <a:ea typeface="Audiowide"/>
                <a:cs typeface="Audiowide"/>
                <a:sym typeface="Audiowide"/>
              </a:rPr>
              <a:t>CONFERENCE 2025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525421"/>
            <a:ext cx="8862029" cy="46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5"/>
              </a:lnSpc>
            </a:pPr>
            <a:r>
              <a:rPr lang="en-US" sz="3047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A JORNADA DO HERÓI</a:t>
            </a:r>
            <a:r>
              <a:rPr lang="en-US" sz="3047">
                <a:solidFill>
                  <a:srgbClr val="C907C9"/>
                </a:solidFill>
                <a:latin typeface="Gabarito"/>
                <a:ea typeface="Gabarito"/>
                <a:cs typeface="Gabarito"/>
                <a:sym typeface="Gabarito"/>
              </a:rPr>
              <a:t> | </a:t>
            </a:r>
            <a:r>
              <a:rPr lang="en-US" sz="3047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30 ANOS DE INOVAÇÃO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14648" y="5648608"/>
            <a:ext cx="4571344" cy="199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Quer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me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na</a:t>
            </a:r>
          </a:p>
          <a:p>
            <a:pPr algn="l">
              <a:lnSpc>
                <a:spcPts val="5347"/>
              </a:lnSpc>
            </a:pPr>
            <a:r>
              <a:rPr lang="en-US" sz="4383" b="1" dirty="0">
                <a:solidFill>
                  <a:srgbClr val="C907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#ECON26?</a:t>
            </a:r>
          </a:p>
          <a:p>
            <a:pPr algn="l">
              <a:lnSpc>
                <a:spcPts val="3517"/>
              </a:lnSpc>
            </a:pP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Acesse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QRCode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avalie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88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minha</a:t>
            </a:r>
            <a:r>
              <a:rPr lang="en-US" sz="288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palestra!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28049" y="5889477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@vini.b.abreu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28049" y="6598692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4"/>
              </a:lnSpc>
            </a:pPr>
            <a:r>
              <a:rPr lang="en-US" sz="2690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vinicius-abreu-batista</a:t>
            </a:r>
            <a:endParaRPr lang="en-US" sz="2690" i="1" dirty="0">
              <a:solidFill>
                <a:srgbClr val="FFFFFF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828049" y="7307907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abreuvinicius87@gmail.com</a:t>
            </a:r>
          </a:p>
        </p:txBody>
      </p:sp>
      <p:grpSp>
        <p:nvGrpSpPr>
          <p:cNvPr id="27" name="Group 12">
            <a:extLst>
              <a:ext uri="{FF2B5EF4-FFF2-40B4-BE49-F238E27FC236}">
                <a16:creationId xmlns:a16="http://schemas.microsoft.com/office/drawing/2014/main" id="{6DCB20F7-1794-3477-E329-139EC2331220}"/>
              </a:ext>
            </a:extLst>
          </p:cNvPr>
          <p:cNvGrpSpPr/>
          <p:nvPr/>
        </p:nvGrpSpPr>
        <p:grpSpPr>
          <a:xfrm>
            <a:off x="1028696" y="4957568"/>
            <a:ext cx="3491711" cy="3375005"/>
            <a:chOff x="0" y="0"/>
            <a:chExt cx="1168874" cy="1129805"/>
          </a:xfrm>
        </p:grpSpPr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13A9E483-B18D-C61E-49F8-B5029D975F77}"/>
                </a:ext>
              </a:extLst>
            </p:cNvPr>
            <p:cNvSpPr/>
            <p:nvPr/>
          </p:nvSpPr>
          <p:spPr>
            <a:xfrm>
              <a:off x="0" y="0"/>
              <a:ext cx="1168874" cy="1129805"/>
            </a:xfrm>
            <a:custGeom>
              <a:avLst/>
              <a:gdLst/>
              <a:ahLst/>
              <a:cxnLst/>
              <a:rect l="l" t="t" r="r" b="b"/>
              <a:pathLst>
                <a:path w="1168874" h="1129805">
                  <a:moveTo>
                    <a:pt x="44345" y="0"/>
                  </a:moveTo>
                  <a:lnTo>
                    <a:pt x="1124529" y="0"/>
                  </a:lnTo>
                  <a:cubicBezTo>
                    <a:pt x="1149020" y="0"/>
                    <a:pt x="1168874" y="19854"/>
                    <a:pt x="1168874" y="44345"/>
                  </a:cubicBezTo>
                  <a:lnTo>
                    <a:pt x="1168874" y="1085461"/>
                  </a:lnTo>
                  <a:cubicBezTo>
                    <a:pt x="1168874" y="1109952"/>
                    <a:pt x="1149020" y="1129805"/>
                    <a:pt x="1124529" y="1129805"/>
                  </a:cubicBezTo>
                  <a:lnTo>
                    <a:pt x="44345" y="1129805"/>
                  </a:lnTo>
                  <a:cubicBezTo>
                    <a:pt x="19854" y="1129805"/>
                    <a:pt x="0" y="1109952"/>
                    <a:pt x="0" y="1085461"/>
                  </a:cubicBezTo>
                  <a:lnTo>
                    <a:pt x="0" y="44345"/>
                  </a:lnTo>
                  <a:cubicBezTo>
                    <a:pt x="0" y="19854"/>
                    <a:pt x="19854" y="0"/>
                    <a:pt x="44345" y="0"/>
                  </a:cubicBezTo>
                  <a:close/>
                </a:path>
              </a:pathLst>
            </a:custGeom>
            <a:blipFill>
              <a:blip r:embed="rId14"/>
              <a:stretch>
                <a:fillRect t="-1728" b="-172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9" name="Imagem 28">
            <a:extLst>
              <a:ext uri="{FF2B5EF4-FFF2-40B4-BE49-F238E27FC236}">
                <a16:creationId xmlns:a16="http://schemas.microsoft.com/office/drawing/2014/main" id="{B80861EF-B7E8-94C6-B071-47AE2053D5E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" r="4813"/>
          <a:stretch/>
        </p:blipFill>
        <p:spPr>
          <a:xfrm>
            <a:off x="10906514" y="1053618"/>
            <a:ext cx="3329971" cy="36846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947</Words>
  <Application>Microsoft Office PowerPoint</Application>
  <PresentationFormat>Personalizar</PresentationFormat>
  <Paragraphs>102</Paragraphs>
  <Slides>14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26" baseType="lpstr">
      <vt:lpstr>Open Sans Bold</vt:lpstr>
      <vt:lpstr>Open Sans Italics</vt:lpstr>
      <vt:lpstr>Gabarito</vt:lpstr>
      <vt:lpstr>Aptos</vt:lpstr>
      <vt:lpstr>Segoe UI</vt:lpstr>
      <vt:lpstr>Open Sans</vt:lpstr>
      <vt:lpstr>Arial Nova</vt:lpstr>
      <vt:lpstr>Calibri</vt:lpstr>
      <vt:lpstr>Audiowide</vt:lpstr>
      <vt:lpstr>Arial</vt:lpstr>
      <vt:lpstr>Office Theme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Fiorilli S/C Software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ECON25 - PTT Palestrante</dc:title>
  <cp:lastModifiedBy>prog_sis</cp:lastModifiedBy>
  <cp:revision>13</cp:revision>
  <dcterms:created xsi:type="dcterms:W3CDTF">2006-08-16T00:00:00Z</dcterms:created>
  <dcterms:modified xsi:type="dcterms:W3CDTF">2025-09-18T11:13:35Z</dcterms:modified>
  <dc:identifier>DAGwvJ-GC0A</dc:identifier>
</cp:coreProperties>
</file>