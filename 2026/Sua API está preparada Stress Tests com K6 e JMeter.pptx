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92" r:id="rId7"/>
    <p:sldId id="259" r:id="rId8"/>
    <p:sldId id="279" r:id="rId9"/>
    <p:sldId id="284" r:id="rId10"/>
    <p:sldId id="281" r:id="rId11"/>
    <p:sldId id="283" r:id="rId12"/>
    <p:sldId id="285" r:id="rId13"/>
    <p:sldId id="286" r:id="rId14"/>
    <p:sldId id="287" r:id="rId15"/>
    <p:sldId id="288" r:id="rId16"/>
    <p:sldId id="289" r:id="rId17"/>
    <p:sldId id="290" r:id="rId18"/>
    <p:sldId id="293" r:id="rId19"/>
    <p:sldId id="294" r:id="rId20"/>
    <p:sldId id="291" r:id="rId21"/>
    <p:sldId id="261" r:id="rId22"/>
  </p:sldIdLst>
  <p:sldSz cx="18288000" cy="10287000"/>
  <p:notesSz cx="6858000" cy="9144000"/>
  <p:embeddedFontLst>
    <p:embeddedFont>
      <p:font typeface="Bebas Neue" panose="020B0606020202050201" pitchFamily="34" charset="0"/>
      <p:regular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9FC"/>
    <a:srgbClr val="FFECED"/>
    <a:srgbClr val="020BD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4436" autoAdjust="0"/>
  </p:normalViewPr>
  <p:slideViewPr>
    <p:cSldViewPr>
      <p:cViewPr varScale="1">
        <p:scale>
          <a:sx n="63" d="100"/>
          <a:sy n="63" d="100"/>
        </p:scale>
        <p:origin x="11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2B0A7-DFDB-46C9-859C-F8F0F5C4123F}" type="datetimeFigureOut">
              <a:rPr lang="pt-BR" smtClean="0"/>
              <a:t>01/09/2026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24AF6-15B1-4948-8D7B-B5B6C2CE68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35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24AF6-15B1-4948-8D7B-B5B6C2CE68A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72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E418FB93-4AA4-1F94-5E33-0AF5B3F9EE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BF3D83-81E2-1DB1-4AD1-98FA84C5ED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40423" y="2362200"/>
            <a:ext cx="16230600" cy="18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8"/>
              </a:lnSpc>
            </a:pPr>
            <a:r>
              <a:rPr lang="pt-BR" sz="9600" dirty="0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Sua API está preparada? Stress </a:t>
            </a:r>
            <a:r>
              <a:rPr lang="pt-BR" sz="9600" dirty="0" err="1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Tests</a:t>
            </a:r>
            <a:r>
              <a:rPr lang="pt-BR" sz="9600" dirty="0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 com K6 e </a:t>
            </a:r>
            <a:r>
              <a:rPr lang="pt-BR" sz="9600" dirty="0" err="1">
                <a:solidFill>
                  <a:srgbClr val="FFECED"/>
                </a:solidFill>
                <a:latin typeface="Bebas Neue" panose="020B0606020202050201" pitchFamily="34" charset="0"/>
                <a:ea typeface="Audiowide"/>
                <a:cs typeface="Audiowide"/>
                <a:sym typeface="Audiowide"/>
              </a:rPr>
              <a:t>JMeter</a:t>
            </a:r>
            <a:endParaRPr lang="en-US" sz="9600" dirty="0">
              <a:solidFill>
                <a:srgbClr val="FFECED"/>
              </a:solidFill>
              <a:latin typeface="Bebas Neue" panose="020B0606020202050201" pitchFamily="34" charset="0"/>
              <a:ea typeface="Audiowide"/>
              <a:cs typeface="Audiowide"/>
              <a:sym typeface="Audiowid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0423" y="4258330"/>
            <a:ext cx="14525773" cy="588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41"/>
              </a:lnSpc>
            </a:pPr>
            <a:r>
              <a:rPr lang="en-US" sz="4800">
                <a:solidFill>
                  <a:srgbClr val="FFECED"/>
                </a:solidFill>
                <a:latin typeface="Bebas Neue" panose="020B0606020202050201" pitchFamily="34" charset="0"/>
                <a:ea typeface="Gabarito"/>
                <a:cs typeface="Gabarito"/>
                <a:sym typeface="Gabarito"/>
              </a:rPr>
              <a:t>VINICIUS ABREU</a:t>
            </a:r>
            <a:endParaRPr lang="en-US" sz="4800" dirty="0">
              <a:solidFill>
                <a:srgbClr val="FFECED"/>
              </a:solidFill>
              <a:latin typeface="Bebas Neue" panose="020B0606020202050201" pitchFamily="34" charset="0"/>
              <a:ea typeface="Gabarito"/>
              <a:cs typeface="Gabarito"/>
              <a:sym typeface="Gabarit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180147"/>
            <a:ext cx="14525773" cy="104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320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Software Architect / Delphi Specialist
Apaixonado por performance, arquitetura de software e open source.</a:t>
            </a:r>
            <a:endParaRPr lang="en-US" sz="3200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ADF3E81-2A3A-871F-DA81-F5885FF0BA9B}"/>
              </a:ext>
            </a:extLst>
          </p:cNvPr>
          <p:cNvCxnSpPr/>
          <p:nvPr/>
        </p:nvCxnSpPr>
        <p:spPr>
          <a:xfrm>
            <a:off x="1028700" y="3356703"/>
            <a:ext cx="4621643" cy="0"/>
          </a:xfrm>
          <a:prstGeom prst="line">
            <a:avLst/>
          </a:prstGeom>
          <a:ln w="76200">
            <a:solidFill>
              <a:srgbClr val="5A59F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F26C69-E085-BA55-5231-8D4C0D14F9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EC47C7A-F859-B441-2B22-74F389293D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85A2DA9-DF61-3F6F-7948-85CFF8DDF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9327" y="7261543"/>
            <a:ext cx="2286000" cy="75247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B85E4FE1-17B5-EECE-83E1-35EE125EB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0629" y="5427719"/>
            <a:ext cx="2373020" cy="526094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5D550D60-7A88-526D-6F7F-2CC36FAA2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0" y="6466010"/>
            <a:ext cx="2447925" cy="542925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6B3F513-F061-C7D0-48B4-5BA63FEB10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0629" y="4329390"/>
            <a:ext cx="2061828" cy="739474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0829414-F26C-3420-269E-1506E30E3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9003" y="4393544"/>
            <a:ext cx="1504425" cy="59922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47989EF6-AFAE-77CD-9BC4-BFC98DF32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95764" y="3099605"/>
            <a:ext cx="2061828" cy="969059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7CC283F2-FBA5-CDC0-21DE-181AEDBF19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5240" y="3222727"/>
            <a:ext cx="2502200" cy="679789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719CDCE9-BE93-D877-F9B1-A7B59B9A6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39658" y="4431644"/>
            <a:ext cx="1257657" cy="520848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F2FCA152-1AFB-59B1-6DC6-5ECD54B2A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36722" y="5278505"/>
            <a:ext cx="1266122" cy="74384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5B2A6842-1365-FA55-33FB-2477D393A6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77510" y="5508519"/>
            <a:ext cx="1504425" cy="339233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91499DED-A5D1-B649-422D-7202A1B0D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9141" y="6466010"/>
            <a:ext cx="2657475" cy="542925"/>
          </a:xfrm>
          <a:prstGeom prst="rect">
            <a:avLst/>
          </a:prstGeom>
        </p:spPr>
      </p:pic>
      <p:pic>
        <p:nvPicPr>
          <p:cNvPr id="39" name="Imagem 38" descr="Apresentação do PowerPoint">
            <a:extLst>
              <a:ext uri="{FF2B5EF4-FFF2-40B4-BE49-F238E27FC236}">
                <a16:creationId xmlns:a16="http://schemas.microsoft.com/office/drawing/2014/main" id="{B050D211-C2C0-353F-99EA-F8BE360A53C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3332380" y="2075379"/>
            <a:ext cx="2061828" cy="575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F26C69-E085-BA55-5231-8D4C0D14F9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ROTEIRO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B40AAAF-FEE7-1990-47B9-3D897F7EB8CB}"/>
              </a:ext>
            </a:extLst>
          </p:cNvPr>
          <p:cNvSpPr txBox="1"/>
          <p:nvPr/>
        </p:nvSpPr>
        <p:spPr>
          <a:xfrm>
            <a:off x="1696278" y="3635575"/>
            <a:ext cx="1461052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Abertura e O Problema
• Tipos de Testes de Carga
• Demos: K6 na Prática
• Novidades do Horse
• Ferramenta Open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Source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Atropos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)
• Conclusão e Boas Práticas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74F1D-02A1-9710-2356-83BD7013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1FC054F-6201-40F8-9DAE-A5FF127741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98DF336-B3AC-6C87-48C8-C336200DE571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D89E655-A488-BB74-AD51-EEA8F47C6FD7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O PROBLEMA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17E5B32-1AED-D819-98C2-F5A10DE59416}"/>
              </a:ext>
            </a:extLst>
          </p:cNvPr>
          <p:cNvSpPr txBox="1"/>
          <p:nvPr/>
        </p:nvSpPr>
        <p:spPr>
          <a:xfrm>
            <a:off x="1696278" y="3635575"/>
            <a:ext cx="14610522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Sua API já quebrou em produção por causa de um pico de tráfego?
• Campanhas de Marketing, Black Friday, Viralização.
• O custo da indisponibilidade: Perda de vendas e reputação.
• Por que precisamos testar antes que o cliente perceba?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2172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A9D5178-C6B8-6B38-23E7-A9DF19B30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3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E6099-868C-0B29-2B01-4179C1D8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D81EDA0-5488-D38B-5146-6D34039EBE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4442528-296F-31B3-E3E8-4A803CD654C4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298BC21-6305-8D87-BFA8-7BA9D626EE40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3 testes </a:t>
            </a: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importante</a:t>
            </a:r>
            <a:endParaRPr lang="en-US" sz="6000" b="1" spc="300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3DE7755-122C-E574-FEC5-C99B21FEA998}"/>
              </a:ext>
            </a:extLst>
          </p:cNvPr>
          <p:cNvSpPr txBox="1"/>
          <p:nvPr/>
        </p:nvSpPr>
        <p:spPr>
          <a:xfrm>
            <a:off x="1696278" y="3635575"/>
            <a:ext cx="14610522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Volume Test:
• Foco no Banco de Dados (Milhões de registros).
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Scalability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Test:
• Foco em Arquitetura (Escalar com mais instâncias).
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Capacity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Test:
• Foco em Limites Exatos. Acha a capacidade máxima de usuários antes da latência ficar inaceitável</a:t>
            </a:r>
            <a:r>
              <a:rPr lang="pt-BR" sz="2394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2394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2415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4C1F5988-DE19-E60D-F405-B5BD0C2D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" y="952500"/>
            <a:ext cx="18200914" cy="83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1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535723E-6D62-E666-51E0-9ED13678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447"/>
            <a:ext cx="18288000" cy="842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2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7538-FE0E-FA82-18CA-2013025F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7949465-43E1-5A9F-748B-A282718A37F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016D5BC-0AD5-A052-6635-AED190C4BE4B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C72B120-ED19-689E-ED9A-1CF5118FF05C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JMeter: O </a:t>
            </a: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Clássico</a:t>
            </a:r>
            <a:endParaRPr lang="en-US" sz="6000" b="1" spc="300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543FC66-DBD4-41DB-0C6A-F74BDDF37036}"/>
              </a:ext>
            </a:extLst>
          </p:cNvPr>
          <p:cNvSpPr txBox="1"/>
          <p:nvPr/>
        </p:nvSpPr>
        <p:spPr>
          <a:xfrm>
            <a:off x="1696278" y="3635575"/>
            <a:ext cx="1461052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Ferramenta padrão da indústria, ecossistema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enterprise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gigantesco.
• Excelente para relatórios gerenciais e testes super complexos.
• Por que não ao vivo hoje?
  - Interface gráfica pesada.
  - Setup não combina com live demo em 45 minutos!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69615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6E47-B980-FAB0-7413-30F1151D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97A183F-487D-2A60-97D6-5683BA29C5D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9161C106-4001-C6D5-9EC3-638904759FAF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BAE6B0-6903-7D97-EADF-43C1BF650959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Por </a:t>
            </a: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que</a:t>
            </a: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k6?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758DAB9-F77B-D22A-062D-3B234ACD2A67}"/>
              </a:ext>
            </a:extLst>
          </p:cNvPr>
          <p:cNvSpPr txBox="1"/>
          <p:nvPr/>
        </p:nvSpPr>
        <p:spPr>
          <a:xfrm>
            <a:off x="1696278" y="3635575"/>
            <a:ext cx="1461052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Developer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Experience (DX) fantástica, feito para desenvolvedores.
• Script como código puro em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JavaScript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(JS).
• Facilmente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versionável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no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Git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e roda maravilhosamente bem no CI/CD.
• Sem interface gráfica pesada (Roda 100% no Terminal).
• Muito fácil de gerar cenários completos usando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IAs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(ChatGPT, Claude).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5338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0A791-3BB6-A759-DA0B-91F03E18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1DA3C07-4ECC-E567-AB9D-065CB8193D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041AE03A-8DFA-24BC-5DDF-86AF60CEA0D1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2B37BB1-BB65-025A-C7AB-4D0EE31BE5F7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pt-BR" sz="6000" b="1" spc="300" dirty="0">
                <a:solidFill>
                  <a:schemeClr val="bg1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K6 na Prática: Script Base</a:t>
            </a:r>
            <a:endParaRPr lang="en-US" sz="6000" b="1" spc="300" dirty="0">
              <a:solidFill>
                <a:schemeClr val="bg1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DE8D486-B853-7DCB-D6DF-2EF2E9990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471472"/>
            <a:ext cx="11887200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7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5BD5-AF59-FB89-06BE-4EE3700F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D9D740-5B0E-1FC4-4D0A-BD56EE758D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5C4E6702-8552-1DF5-ABEC-BC7A0B03F665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E560A9-354A-900B-0AF8-3219EA585076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Novidades</a:t>
            </a: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do Horse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3D9227E7-FB52-1ACD-A1CF-F16414EB6F62}"/>
              </a:ext>
            </a:extLst>
          </p:cNvPr>
          <p:cNvSpPr txBox="1"/>
          <p:nvPr/>
        </p:nvSpPr>
        <p:spPr>
          <a:xfrm>
            <a:off x="1696278" y="3635575"/>
            <a:ext cx="14610522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Novos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providers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implementados nativamente (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epoll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, http.sys,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mormot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).
• Arquitetura Zero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Allocation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: Muito mais leve e rápido.
• Aumento massivo na quantidade de requisições por segundo suportadas.
• Otimizações viscerais no core para altíssima performance.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78333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5F15-6CF1-9CC7-399F-8C22F3BFB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5D103DE-335E-0E16-FC9E-6F09A5303F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0CEBDA7-7812-0965-A8B9-9A6C24D7F999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A018FB3-07D5-B27A-8E32-4EE30E4E3705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Atropos - Open Source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62E1C90-4251-C64A-EFDC-DEE4CFD7C138}"/>
              </a:ext>
            </a:extLst>
          </p:cNvPr>
          <p:cNvSpPr txBox="1"/>
          <p:nvPr/>
        </p:nvSpPr>
        <p:spPr>
          <a:xfrm>
            <a:off x="1696278" y="3635575"/>
            <a:ext cx="1461052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Ferramenta fantástica para organização e refatoração em projetos Delphi.
• Funcionalidades principais:
  - Remoção inteligente de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units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desnecessárias.
  - Movimentação de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units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 para a seção correta de </a:t>
            </a:r>
            <a:r>
              <a:rPr lang="pt-BR" sz="2394" dirty="0" err="1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implementation</a:t>
            </a: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.
• Acesse agora mesmo e deixe sua Star no GitHub!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16984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DBB9-1712-609A-0ADF-77F07C32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9C1EB8-AF76-DBC7-93FB-C93D693620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1DC19AD-D3C9-6FE5-A4A6-A89D26906EA6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9417FB3-5B0C-2E72-08AA-0A5C29928956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CANAL NO YOUTUBE</a:t>
            </a:r>
            <a:endParaRPr lang="en-US" sz="6000" b="1" spc="300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9FFFA155-86D1-329F-EC21-B45729C05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829" y="1422875"/>
            <a:ext cx="6848473" cy="6848473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C95FA14F-5109-E8B5-3633-C4EAF51416FC}"/>
              </a:ext>
            </a:extLst>
          </p:cNvPr>
          <p:cNvSpPr txBox="1"/>
          <p:nvPr/>
        </p:nvSpPr>
        <p:spPr>
          <a:xfrm>
            <a:off x="1028698" y="3520070"/>
            <a:ext cx="86487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Inscreva-se para ter acesso a mais conteúdos sobre Delphi</a:t>
            </a:r>
          </a:p>
        </p:txBody>
      </p:sp>
    </p:spTree>
    <p:extLst>
      <p:ext uri="{BB962C8B-B14F-4D97-AF65-F5344CB8AC3E}">
        <p14:creationId xmlns:p14="http://schemas.microsoft.com/office/powerpoint/2010/main" val="136018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FC78E-A6CC-4964-E17F-D0B381BA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8B7717-412F-16C2-0E7F-7144B03988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E2BDB10-12A7-A744-B6C5-49B7682FE2D4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1161FD4-7B35-A0BE-1A00-8B24409927AB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Blog </a:t>
            </a: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pessoal</a:t>
            </a:r>
            <a:endParaRPr lang="en-US" sz="6000" b="1" spc="300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E6C5EC9-5116-86E3-221F-AB96D7C3E45F}"/>
              </a:ext>
            </a:extLst>
          </p:cNvPr>
          <p:cNvSpPr txBox="1"/>
          <p:nvPr/>
        </p:nvSpPr>
        <p:spPr>
          <a:xfrm>
            <a:off x="1028698" y="3520070"/>
            <a:ext cx="86487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Diversos artigos sobre Delphi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0DCD2FB-7803-9CD8-373E-2C21DA49D6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6293" y="1809750"/>
            <a:ext cx="66675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474B-76D9-F9C3-08FC-682754CA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9A7164-090F-3479-5BE1-9BC75253A9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" y="-21624"/>
            <a:ext cx="18285714" cy="10285714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D30C7A57-7661-A774-B0E8-2C1A28D49B33}"/>
              </a:ext>
            </a:extLst>
          </p:cNvPr>
          <p:cNvSpPr txBox="1"/>
          <p:nvPr/>
        </p:nvSpPr>
        <p:spPr>
          <a:xfrm>
            <a:off x="0" y="-966188"/>
            <a:ext cx="18288000" cy="1068168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285"/>
              </a:lnSpc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8F4E2A-F765-E133-EFD0-A52EC5A8C12A}"/>
              </a:ext>
            </a:extLst>
          </p:cNvPr>
          <p:cNvSpPr txBox="1"/>
          <p:nvPr/>
        </p:nvSpPr>
        <p:spPr>
          <a:xfrm>
            <a:off x="967953" y="2067516"/>
            <a:ext cx="1623060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spc="300" dirty="0" err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Conclusão</a:t>
            </a:r>
            <a:endParaRPr lang="en-US" sz="6000" b="1" spc="300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DD65A00-6DF9-51DB-CFD4-B85F0579CD16}"/>
              </a:ext>
            </a:extLst>
          </p:cNvPr>
          <p:cNvSpPr txBox="1"/>
          <p:nvPr/>
        </p:nvSpPr>
        <p:spPr>
          <a:xfrm>
            <a:off x="1696278" y="3635575"/>
            <a:ext cx="1461052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pt-BR" sz="2394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• Lembre-se: Performance não se adivinha, se mede.
• Implemente testes de carga ANTES da sua aplicação ir para produção.
• Inclua o K6 na sua esteira de CI/CD para testar automaticamente.</a:t>
            </a:r>
            <a:endParaRPr lang="en-US" sz="2394" dirty="0">
              <a:solidFill>
                <a:schemeClr val="bg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77811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18005560-50F8-9BD6-8F15-FFBD3AB236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028700" y="4962331"/>
            <a:ext cx="3491711" cy="3375005"/>
            <a:chOff x="0" y="0"/>
            <a:chExt cx="1168874" cy="1129805"/>
          </a:xfrm>
        </p:grpSpPr>
        <p:sp>
          <p:nvSpPr>
            <p:cNvPr id="13" name="Freeform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168874" cy="1129805"/>
            </a:xfrm>
            <a:custGeom>
              <a:avLst/>
              <a:gdLst/>
              <a:ahLst/>
              <a:cxnLst/>
              <a:rect l="l" t="t" r="r" b="b"/>
              <a:pathLst>
                <a:path w="1168874" h="1129805">
                  <a:moveTo>
                    <a:pt x="110861" y="0"/>
                  </a:moveTo>
                  <a:lnTo>
                    <a:pt x="1058012" y="0"/>
                  </a:lnTo>
                  <a:cubicBezTo>
                    <a:pt x="1087415" y="0"/>
                    <a:pt x="1115613" y="11680"/>
                    <a:pt x="1136403" y="32471"/>
                  </a:cubicBezTo>
                  <a:cubicBezTo>
                    <a:pt x="1157194" y="53261"/>
                    <a:pt x="1168874" y="81459"/>
                    <a:pt x="1168874" y="110861"/>
                  </a:cubicBezTo>
                  <a:lnTo>
                    <a:pt x="1168874" y="1018944"/>
                  </a:lnTo>
                  <a:cubicBezTo>
                    <a:pt x="1168874" y="1048346"/>
                    <a:pt x="1157194" y="1076544"/>
                    <a:pt x="1136403" y="1097335"/>
                  </a:cubicBezTo>
                  <a:cubicBezTo>
                    <a:pt x="1115613" y="1118125"/>
                    <a:pt x="1087415" y="1129805"/>
                    <a:pt x="1058012" y="1129805"/>
                  </a:cubicBezTo>
                  <a:lnTo>
                    <a:pt x="110861" y="1129805"/>
                  </a:lnTo>
                  <a:cubicBezTo>
                    <a:pt x="81459" y="1129805"/>
                    <a:pt x="53261" y="1118125"/>
                    <a:pt x="32471" y="1097335"/>
                  </a:cubicBezTo>
                  <a:cubicBezTo>
                    <a:pt x="11680" y="1076544"/>
                    <a:pt x="0" y="1048346"/>
                    <a:pt x="0" y="1018944"/>
                  </a:cubicBezTo>
                  <a:lnTo>
                    <a:pt x="0" y="110861"/>
                  </a:lnTo>
                  <a:cubicBezTo>
                    <a:pt x="0" y="81459"/>
                    <a:pt x="11680" y="53261"/>
                    <a:pt x="32471" y="32471"/>
                  </a:cubicBezTo>
                  <a:cubicBezTo>
                    <a:pt x="53261" y="11680"/>
                    <a:pt x="81459" y="0"/>
                    <a:pt x="110861" y="0"/>
                  </a:cubicBezTo>
                  <a:close/>
                </a:path>
              </a:pathLst>
            </a:custGeom>
            <a:blipFill>
              <a:blip r:embed="rId4"/>
              <a:stretch>
                <a:fillRect t="-1728" b="-172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091029" y="6573720"/>
            <a:ext cx="378159" cy="378159"/>
          </a:xfrm>
          <a:custGeom>
            <a:avLst/>
            <a:gdLst/>
            <a:ahLst/>
            <a:cxnLst/>
            <a:rect l="l" t="t" r="r" b="b"/>
            <a:pathLst>
              <a:path w="378159" h="378159">
                <a:moveTo>
                  <a:pt x="0" y="0"/>
                </a:moveTo>
                <a:lnTo>
                  <a:pt x="378159" y="0"/>
                </a:lnTo>
                <a:lnTo>
                  <a:pt x="378159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1084263" y="7282935"/>
            <a:ext cx="391690" cy="378159"/>
          </a:xfrm>
          <a:custGeom>
            <a:avLst/>
            <a:gdLst/>
            <a:ahLst/>
            <a:cxnLst/>
            <a:rect l="l" t="t" r="r" b="b"/>
            <a:pathLst>
              <a:path w="391690" h="378159">
                <a:moveTo>
                  <a:pt x="0" y="0"/>
                </a:moveTo>
                <a:lnTo>
                  <a:pt x="391691" y="0"/>
                </a:lnTo>
                <a:lnTo>
                  <a:pt x="391691" y="378159"/>
                </a:lnTo>
                <a:lnTo>
                  <a:pt x="0" y="378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TextBox 19"/>
          <p:cNvSpPr txBox="1"/>
          <p:nvPr/>
        </p:nvSpPr>
        <p:spPr>
          <a:xfrm>
            <a:off x="11091029" y="5029006"/>
            <a:ext cx="6168271" cy="59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8"/>
              </a:lnSpc>
            </a:pPr>
            <a:r>
              <a:rPr lang="en-US" sz="5400" b="1">
                <a:solidFill>
                  <a:srgbClr val="FFECED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Vinicius Abreu</a:t>
            </a:r>
            <a:endParaRPr lang="en-US" sz="5400" b="1" dirty="0">
              <a:solidFill>
                <a:srgbClr val="FFECED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879272" y="5295900"/>
            <a:ext cx="4798128" cy="28296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Quer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me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ver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na</a:t>
            </a:r>
            <a:endParaRPr lang="en-US" sz="4800" b="1" dirty="0">
              <a:solidFill>
                <a:srgbClr val="FFFFFF"/>
              </a:solidFill>
              <a:latin typeface="Bebas Neue" panose="020B0606020202050201" pitchFamily="34" charset="0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5500"/>
              </a:lnSpc>
            </a:pPr>
            <a:r>
              <a:rPr lang="en-US" sz="4800" b="1" dirty="0">
                <a:solidFill>
                  <a:srgbClr val="5A59FC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#ECON27?</a:t>
            </a:r>
          </a:p>
          <a:p>
            <a:pPr algn="l">
              <a:lnSpc>
                <a:spcPts val="5500"/>
              </a:lnSpc>
            </a:pP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Acesse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o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QRCode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e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avalie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minha</a:t>
            </a:r>
            <a:r>
              <a:rPr lang="en-US" sz="4800" b="1" dirty="0">
                <a:solidFill>
                  <a:srgbClr val="FFFFFF"/>
                </a:solidFill>
                <a:latin typeface="Bebas Neue" panose="020B0606020202050201" pitchFamily="34" charset="0"/>
                <a:ea typeface="Open Sans Bold"/>
                <a:cs typeface="Open Sans Bold"/>
                <a:sym typeface="Open Sans Bold"/>
              </a:rPr>
              <a:t> palestra!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049" y="6598692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/in/</a:t>
            </a:r>
            <a:r>
              <a:rPr lang="en-US" sz="2690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vinicius-abreu-batista</a:t>
            </a: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/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28049" y="7307907"/>
            <a:ext cx="5431251" cy="34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690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abreuvinicius87@gmail.com</a:t>
            </a: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C32F5D9D-9679-09EE-5670-5A3BD16425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02" y="1002124"/>
            <a:ext cx="13446356" cy="28296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D9A965134E674FB7ED1F28D973FED6" ma:contentTypeVersion="16" ma:contentTypeDescription="Crie um novo documento." ma:contentTypeScope="" ma:versionID="83f04281a2359211e3ef601e4fb9bdd7">
  <xsd:schema xmlns:xsd="http://www.w3.org/2001/XMLSchema" xmlns:xs="http://www.w3.org/2001/XMLSchema" xmlns:p="http://schemas.microsoft.com/office/2006/metadata/properties" xmlns:ns2="c30c7579-1782-4e6e-a2da-c7ba39ef9d84" xmlns:ns3="36c76add-0d37-486b-9e0e-fa18d19f6949" targetNamespace="http://schemas.microsoft.com/office/2006/metadata/properties" ma:root="true" ma:fieldsID="7f97a22e22afa82d44f46ab84021d77b" ns2:_="" ns3:_="">
    <xsd:import namespace="c30c7579-1782-4e6e-a2da-c7ba39ef9d84"/>
    <xsd:import namespace="36c76add-0d37-486b-9e0e-fa18d19f6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0c7579-1782-4e6e-a2da-c7ba39ef9d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b6dadb39-0040-4ee0-af32-c0863da8f4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76add-0d37-486b-9e0e-fa18d19f694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b5e5e10c-495b-4036-8216-c4e34a2b534c}" ma:internalName="TaxCatchAll" ma:showField="CatchAllData" ma:web="36c76add-0d37-486b-9e0e-fa18d19f6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c76add-0d37-486b-9e0e-fa18d19f6949" xsi:nil="true"/>
    <lcf76f155ced4ddcb4097134ff3c332f xmlns="c30c7579-1782-4e6e-a2da-c7ba39ef9d8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3F2DF24-BFBA-4F89-B301-A8B42C9CED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868F60-4275-4E8B-BF3A-7B1A905E16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0c7579-1782-4e6e-a2da-c7ba39ef9d84"/>
    <ds:schemaRef ds:uri="36c76add-0d37-486b-9e0e-fa18d19f6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5D838A-BC9D-49EF-B32D-C25F436E0AF2}">
  <ds:schemaRefs>
    <ds:schemaRef ds:uri="http://schemas.microsoft.com/office/2006/metadata/properties"/>
    <ds:schemaRef ds:uri="http://schemas.microsoft.com/office/infopath/2007/PartnerControls"/>
    <ds:schemaRef ds:uri="36c76add-0d37-486b-9e0e-fa18d19f6949"/>
    <ds:schemaRef ds:uri="c30c7579-1782-4e6e-a2da-c7ba39ef9d8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503</Words>
  <Application>Microsoft Office PowerPoint</Application>
  <PresentationFormat>Personalizar</PresentationFormat>
  <Paragraphs>31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Open Sans</vt:lpstr>
      <vt:lpstr>Arial</vt:lpstr>
      <vt:lpstr>Bebas Neue</vt:lpstr>
      <vt:lpstr>Open Sans Italics</vt:lpstr>
      <vt:lpstr>Aptos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ECON25 - PTT Palestrante</dc:title>
  <cp:lastModifiedBy>Vinicius Abreu</cp:lastModifiedBy>
  <cp:revision>11</cp:revision>
  <dcterms:created xsi:type="dcterms:W3CDTF">2006-08-16T00:00:00Z</dcterms:created>
  <dcterms:modified xsi:type="dcterms:W3CDTF">2026-09-01T04:14:01Z</dcterms:modified>
  <dc:identifier>DAGwvJ-GC0A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0x010100DBD9A965134E674FB7ED1F28D973FED6</vt:lpwstr>
  </property>
  <property fmtid="{D5CDD505-2E9C-101B-9397-08002B2CF9AE}" pid="3" name="MediaServiceImageTags">
    <vt:lpwstr/>
  </property>
</Properties>
</file>